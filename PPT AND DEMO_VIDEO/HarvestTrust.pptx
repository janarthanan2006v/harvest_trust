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embeddedFontLst>
    <p:embeddedFont>
      <p:font typeface="Instrument Sans"/>
      <p:regular r:id="rId201314"/>
    </p:embeddedFont>
    <p:embeddedFont>
      <p:font typeface="Instrument Sans Medium"/>
      <p:regular r:id="rId201315"/>
    </p:embeddedFont>
    <p:embeddedFont>
      <p:font typeface="Instrument Sans SemiBold"/>
      <p:regular r:id="rId201316"/>
    </p:embeddedFont>
    <p:embeddedFont>
      <p:font typeface="Instrument Sans Bold"/>
      <p:regular r:id="rId201317"/>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 Id="rId201320" Target="fonts/201320.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2-1.jpeg"/><Relationship Id="rId2" Type="http://schemas.openxmlformats.org/officeDocument/2006/relationships/image" Target="../media/image-1002-2.png"/><Relationship Id="rId4"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FFFFFF">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8029180" y="48444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496119" y="1355378"/>
            <a:ext cx="8151763" cy="387548"/>
          </a:xfrm>
          <a:prstGeom prst="rect">
            <a:avLst/>
          </a:prstGeom>
          <a:noFill/>
          <a:ln/>
        </p:spPr>
        <p:txBody>
          <a:bodyPr wrap="none" lIns="0" tIns="0" rIns="0" bIns="0" rtlCol="0" anchor="t"/>
          <a:lstStyle/>
          <a:p>
            <a:pPr algn="l" indent="0" marL="0">
              <a:lnSpc>
                <a:spcPct val="104000"/>
              </a:lnSpc>
              <a:buNone/>
            </a:pPr>
            <a:r>
              <a:rPr lang="en-US" sz="2400" dirty="0">
                <a:solidFill>
                  <a:srgbClr val="505468"/>
                </a:solidFill>
                <a:latin typeface="Instrument Sans SemiBold" pitchFamily="34" charset="0"/>
                <a:ea typeface="Instrument Sans SemiBold" pitchFamily="34" charset="-122"/>
                <a:cs typeface="Instrument Sans SemiBold" pitchFamily="34" charset="-120"/>
              </a:rPr>
              <a:t>HarvestTrust</a:t>
            </a:r>
            <a:endParaRPr lang="en-US" sz="2400" dirty="0"/>
          </a:p>
        </p:txBody>
      </p:sp>
      <p:sp>
        <p:nvSpPr>
          <p:cNvPr id="3" name="Text 1"/>
          <p:cNvSpPr/>
          <p:nvPr/>
        </p:nvSpPr>
        <p:spPr>
          <a:xfrm>
            <a:off x="496119" y="1792486"/>
            <a:ext cx="8151763" cy="193849"/>
          </a:xfrm>
          <a:prstGeom prst="rect">
            <a:avLst/>
          </a:prstGeom>
          <a:noFill/>
          <a:ln/>
        </p:spPr>
        <p:txBody>
          <a:bodyPr wrap="none" lIns="0" tIns="0" rIns="0" bIns="0" rtlCol="0" anchor="t"/>
          <a:lstStyle/>
          <a:p>
            <a:pPr algn="l" indent="0" marL="0">
              <a:lnSpc>
                <a:spcPct val="104000"/>
              </a:lnSpc>
              <a:buNone/>
            </a:pPr>
            <a:r>
              <a:rPr lang="en-US" sz="1200" dirty="0">
                <a:solidFill>
                  <a:srgbClr val="505468"/>
                </a:solidFill>
                <a:latin typeface="Instrument Sans SemiBold" pitchFamily="34" charset="0"/>
                <a:ea typeface="Instrument Sans SemiBold" pitchFamily="34" charset="-122"/>
                <a:cs typeface="Instrument Sans SemiBold" pitchFamily="34" charset="-120"/>
              </a:rPr>
              <a:t>Farmer Producer Group Produce Collection and Payment Register</a:t>
            </a:r>
            <a:endParaRPr lang="en-US" sz="1200" dirty="0"/>
          </a:p>
        </p:txBody>
      </p:sp>
      <p:sp>
        <p:nvSpPr>
          <p:cNvPr id="4" name="Text 2"/>
          <p:cNvSpPr/>
          <p:nvPr/>
        </p:nvSpPr>
        <p:spPr>
          <a:xfrm>
            <a:off x="496119" y="2172370"/>
            <a:ext cx="8608963" cy="198462"/>
          </a:xfrm>
          <a:prstGeom prst="rect">
            <a:avLst/>
          </a:prstGeom>
          <a:noFill/>
          <a:ln/>
        </p:spPr>
        <p:txBody>
          <a:bodyPr wrap="none" lIns="0" tIns="0" rIns="0" bIns="0" rtlCol="0" anchor="t"/>
          <a:lstStyle/>
          <a:p>
            <a:pPr algn="l" indent="0" marL="0">
              <a:lnSpc>
                <a:spcPct val="133000"/>
              </a:lnSpc>
              <a:buNone/>
            </a:pPr>
            <a:r>
              <a:rPr lang="en-US" sz="950" i="1" dirty="0">
                <a:solidFill>
                  <a:srgbClr val="5B5F71"/>
                </a:solidFill>
                <a:latin typeface="Instrument Sans Medium" pitchFamily="34" charset="0"/>
                <a:ea typeface="Instrument Sans Medium" pitchFamily="34" charset="-122"/>
                <a:cs typeface="Instrument Sans Medium" pitchFamily="34" charset="-120"/>
              </a:rPr>
              <a:t>Every delivery recorded. Every payment explained.</a:t>
            </a:r>
            <a:endParaRPr lang="en-US" sz="950" dirty="0"/>
          </a:p>
        </p:txBody>
      </p:sp>
      <p:sp>
        <p:nvSpPr>
          <p:cNvPr id="5" name="Shape 3"/>
          <p:cNvSpPr/>
          <p:nvPr/>
        </p:nvSpPr>
        <p:spPr>
          <a:xfrm>
            <a:off x="496119" y="2541315"/>
            <a:ext cx="8151763" cy="14288"/>
          </a:xfrm>
          <a:prstGeom prst="roundRect">
            <a:avLst>
              <a:gd name="adj" fmla="val 59998"/>
            </a:avLst>
          </a:prstGeom>
          <a:solidFill>
            <a:srgbClr val="5B5F71">
              <a:alpha val="50000"/>
            </a:srgbClr>
          </a:solidFill>
          <a:ln/>
        </p:spPr>
      </p:sp>
      <p:sp>
        <p:nvSpPr>
          <p:cNvPr id="6" name="Shape 4"/>
          <p:cNvSpPr/>
          <p:nvPr/>
        </p:nvSpPr>
        <p:spPr>
          <a:xfrm>
            <a:off x="406822" y="2726085"/>
            <a:ext cx="4103191" cy="1061963"/>
          </a:xfrm>
          <a:prstGeom prst="roundRect">
            <a:avLst>
              <a:gd name="adj" fmla="val 8410"/>
            </a:avLst>
          </a:prstGeom>
          <a:solidFill>
            <a:srgbClr val="505468">
              <a:alpha val="95000"/>
            </a:srgbClr>
          </a:solidFill>
          <a:ln/>
        </p:spPr>
      </p:sp>
      <p:sp>
        <p:nvSpPr>
          <p:cNvPr id="7" name="Text 5"/>
          <p:cNvSpPr/>
          <p:nvPr/>
        </p:nvSpPr>
        <p:spPr>
          <a:xfrm>
            <a:off x="530796" y="2850059"/>
            <a:ext cx="3855244" cy="193849"/>
          </a:xfrm>
          <a:prstGeom prst="rect">
            <a:avLst/>
          </a:prstGeom>
          <a:noFill/>
          <a:ln/>
        </p:spPr>
        <p:txBody>
          <a:bodyPr wrap="none" lIns="0" tIns="0" rIns="0" bIns="0" rtlCol="0" anchor="t"/>
          <a:lstStyle/>
          <a:p>
            <a:pPr algn="l" indent="0" marL="0">
              <a:lnSpc>
                <a:spcPct val="104000"/>
              </a:lnSpc>
              <a:buNone/>
            </a:pPr>
            <a:r>
              <a:rPr lang="en-US" sz="1200" dirty="0">
                <a:solidFill>
                  <a:srgbClr val="FFFFFF"/>
                </a:solidFill>
                <a:latin typeface="Instrument Sans SemiBold" pitchFamily="34" charset="0"/>
                <a:ea typeface="Instrument Sans SemiBold" pitchFamily="34" charset="-122"/>
                <a:cs typeface="Instrument Sans SemiBold" pitchFamily="34" charset="-120"/>
              </a:rPr>
              <a:t>Student</a:t>
            </a:r>
            <a:endParaRPr lang="en-US" sz="1200" dirty="0"/>
          </a:p>
        </p:txBody>
      </p:sp>
      <p:sp>
        <p:nvSpPr>
          <p:cNvPr id="8" name="Text 6"/>
          <p:cNvSpPr/>
          <p:nvPr/>
        </p:nvSpPr>
        <p:spPr>
          <a:xfrm>
            <a:off x="530796" y="3167881"/>
            <a:ext cx="3855244" cy="508546"/>
          </a:xfrm>
          <a:prstGeom prst="rect">
            <a:avLst/>
          </a:prstGeom>
          <a:noFill/>
          <a:ln/>
        </p:spPr>
        <p:txBody>
          <a:bodyPr wrap="square" lIns="0" tIns="0" rIns="0" bIns="0" rtlCol="0" anchor="t"/>
          <a:lstStyle/>
          <a:p>
            <a:pPr algn="l" indent="0" marL="0">
              <a:lnSpc>
                <a:spcPct val="133000"/>
              </a:lnSpc>
              <a:spcAft>
                <a:spcPts val="850"/>
              </a:spcAft>
              <a:buNone/>
            </a:pPr>
            <a:r>
              <a:rPr lang="en-US" sz="950" dirty="0">
                <a:solidFill>
                  <a:srgbClr val="FFFFFF"/>
                </a:solidFill>
                <a:latin typeface="Instrument Sans Medium" pitchFamily="34" charset="0"/>
                <a:ea typeface="Instrument Sans Medium" pitchFamily="34" charset="-122"/>
                <a:cs typeface="Instrument Sans Medium" pitchFamily="34" charset="-120"/>
              </a:rPr>
              <a:t>Janarthanan V</a:t>
            </a:r>
            <a:endParaRPr lang="en-US" sz="950" dirty="0"/>
          </a:p>
          <a:p>
            <a:pPr algn="l" indent="0" marL="0">
              <a:lnSpc>
                <a:spcPct val="133000"/>
              </a:lnSpc>
              <a:buNone/>
            </a:pPr>
            <a:r>
              <a:rPr lang="en-US" sz="950" dirty="0">
                <a:solidFill>
                  <a:srgbClr val="FFFFFF"/>
                </a:solidFill>
                <a:latin typeface="Instrument Sans Medium" pitchFamily="34" charset="0"/>
                <a:ea typeface="Instrument Sans Medium" pitchFamily="34" charset="-122"/>
                <a:cs typeface="Instrument Sans Medium" pitchFamily="34" charset="-120"/>
              </a:rPr>
              <a:t>Reg. No: 411723205021</a:t>
            </a:r>
            <a:endParaRPr lang="en-US" sz="950" dirty="0"/>
          </a:p>
        </p:txBody>
      </p:sp>
      <p:sp>
        <p:nvSpPr>
          <p:cNvPr id="9" name="Text 7"/>
          <p:cNvSpPr/>
          <p:nvPr/>
        </p:nvSpPr>
        <p:spPr>
          <a:xfrm>
            <a:off x="4728046" y="2850059"/>
            <a:ext cx="3924598" cy="193849"/>
          </a:xfrm>
          <a:prstGeom prst="rect">
            <a:avLst/>
          </a:prstGeom>
          <a:noFill/>
          <a:ln/>
        </p:spPr>
        <p:txBody>
          <a:bodyPr wrap="none" lIns="0" tIns="0" rIns="0" bIns="0" rtlCol="0" anchor="t"/>
          <a:lstStyle/>
          <a:p>
            <a:pPr algn="l" indent="0" marL="0">
              <a:lnSpc>
                <a:spcPct val="104000"/>
              </a:lnSpc>
              <a:buNone/>
            </a:pPr>
            <a:r>
              <a:rPr lang="en-US" sz="1200" dirty="0">
                <a:solidFill>
                  <a:srgbClr val="505468"/>
                </a:solidFill>
                <a:latin typeface="Instrument Sans SemiBold" pitchFamily="34" charset="0"/>
                <a:ea typeface="Instrument Sans SemiBold" pitchFamily="34" charset="-122"/>
                <a:cs typeface="Instrument Sans SemiBold" pitchFamily="34" charset="-120"/>
              </a:rPr>
              <a:t>Institution</a:t>
            </a:r>
            <a:endParaRPr lang="en-US" sz="1200" dirty="0"/>
          </a:p>
        </p:txBody>
      </p:sp>
      <p:sp>
        <p:nvSpPr>
          <p:cNvPr id="10" name="Text 8"/>
          <p:cNvSpPr/>
          <p:nvPr/>
        </p:nvSpPr>
        <p:spPr>
          <a:xfrm>
            <a:off x="4728046" y="3167881"/>
            <a:ext cx="3924598" cy="508546"/>
          </a:xfrm>
          <a:prstGeom prst="rect">
            <a:avLst/>
          </a:prstGeom>
          <a:noFill/>
          <a:ln/>
        </p:spPr>
        <p:txBody>
          <a:bodyPr wrap="square" lIns="0" tIns="0" rIns="0" bIns="0" rtlCol="0" anchor="t"/>
          <a:lstStyle/>
          <a:p>
            <a:pPr algn="l" indent="0" marL="0">
              <a:lnSpc>
                <a:spcPct val="133000"/>
              </a:lnSpc>
              <a:spcAft>
                <a:spcPts val="850"/>
              </a:spcAft>
              <a:buNone/>
            </a:pPr>
            <a:r>
              <a:rPr lang="en-US" sz="950" dirty="0">
                <a:solidFill>
                  <a:srgbClr val="5B5F71"/>
                </a:solidFill>
                <a:latin typeface="Instrument Sans Medium" pitchFamily="34" charset="0"/>
                <a:ea typeface="Instrument Sans Medium" pitchFamily="34" charset="-122"/>
                <a:cs typeface="Instrument Sans Medium" pitchFamily="34" charset="-120"/>
              </a:rPr>
              <a:t>PSVPEC – Information Technology</a:t>
            </a:r>
            <a:endParaRPr lang="en-US" sz="950" dirty="0"/>
          </a:p>
          <a:p>
            <a:pPr algn="l" indent="0" marL="0">
              <a:lnSpc>
                <a:spcPct val="133000"/>
              </a:lnSpc>
              <a:buNone/>
            </a:pPr>
            <a:r>
              <a:rPr lang="en-US" sz="950" dirty="0">
                <a:solidFill>
                  <a:srgbClr val="5B5F71"/>
                </a:solidFill>
                <a:latin typeface="Instrument Sans Medium" pitchFamily="34" charset="0"/>
                <a:ea typeface="Instrument Sans Medium" pitchFamily="34" charset="-122"/>
                <a:cs typeface="Instrument Sans Medium" pitchFamily="34" charset="-120"/>
              </a:rPr>
              <a:t>IV Year | SIH 2026 – Internal Practical Assessment</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96119" y="623813"/>
            <a:ext cx="8151763" cy="387548"/>
          </a:xfrm>
          <a:prstGeom prst="rect">
            <a:avLst/>
          </a:prstGeom>
          <a:noFill/>
          <a:ln/>
        </p:spPr>
        <p:txBody>
          <a:bodyPr wrap="none" lIns="0" tIns="0" rIns="0" bIns="0" rtlCol="0" anchor="t"/>
          <a:lstStyle/>
          <a:p>
            <a:pPr algn="l" indent="0" marL="0">
              <a:lnSpc>
                <a:spcPct val="104000"/>
              </a:lnSpc>
              <a:buNone/>
            </a:pPr>
            <a:r>
              <a:rPr lang="en-US" sz="2400" dirty="0">
                <a:solidFill>
                  <a:srgbClr val="505468"/>
                </a:solidFill>
                <a:latin typeface="Instrument Sans SemiBold" pitchFamily="34" charset="0"/>
                <a:ea typeface="Instrument Sans SemiBold" pitchFamily="34" charset="-122"/>
                <a:cs typeface="Instrument Sans SemiBold" pitchFamily="34" charset="-120"/>
              </a:rPr>
              <a:t>Paper Slips Create Delays, Errors and Disputes</a:t>
            </a:r>
            <a:endParaRPr lang="en-US" sz="2400" dirty="0"/>
          </a:p>
        </p:txBody>
      </p:sp>
      <p:sp>
        <p:nvSpPr>
          <p:cNvPr id="3" name="Text 1"/>
          <p:cNvSpPr/>
          <p:nvPr/>
        </p:nvSpPr>
        <p:spPr>
          <a:xfrm>
            <a:off x="496119" y="1321371"/>
            <a:ext cx="3924598" cy="193849"/>
          </a:xfrm>
          <a:prstGeom prst="rect">
            <a:avLst/>
          </a:prstGeom>
          <a:noFill/>
          <a:ln/>
        </p:spPr>
        <p:txBody>
          <a:bodyPr wrap="none" lIns="0" tIns="0" rIns="0" bIns="0" rtlCol="0" anchor="t"/>
          <a:lstStyle/>
          <a:p>
            <a:pPr algn="l" indent="0" marL="0">
              <a:lnSpc>
                <a:spcPct val="104000"/>
              </a:lnSpc>
              <a:buNone/>
            </a:pPr>
            <a:r>
              <a:rPr lang="en-US" sz="1200" dirty="0">
                <a:solidFill>
                  <a:srgbClr val="505468"/>
                </a:solidFill>
                <a:latin typeface="Instrument Sans SemiBold" pitchFamily="34" charset="0"/>
                <a:ea typeface="Instrument Sans SemiBold" pitchFamily="34" charset="-122"/>
                <a:cs typeface="Instrument Sans SemiBold" pitchFamily="34" charset="-120"/>
              </a:rPr>
              <a:t>Existing Process</a:t>
            </a:r>
            <a:endParaRPr lang="en-US" sz="1200" dirty="0"/>
          </a:p>
        </p:txBody>
      </p:sp>
      <p:sp>
        <p:nvSpPr>
          <p:cNvPr id="4" name="Text 2"/>
          <p:cNvSpPr/>
          <p:nvPr/>
        </p:nvSpPr>
        <p:spPr>
          <a:xfrm>
            <a:off x="496119" y="1639193"/>
            <a:ext cx="3924598" cy="923999"/>
          </a:xfrm>
          <a:prstGeom prst="rect">
            <a:avLst/>
          </a:prstGeom>
          <a:noFill/>
          <a:ln/>
        </p:spPr>
        <p:txBody>
          <a:bodyPr wrap="square" lIns="0" tIns="0" rIns="0" bIns="0" rtlCol="0" anchor="t">
            <a:normAutofit/>
          </a:bodyPr>
          <a:lstStyle/>
          <a:p>
            <a:pPr algn="l" marL="193040" indent="-193040">
              <a:lnSpc>
                <a:spcPct val="133000"/>
              </a:lnSpc>
              <a:buSzPct val="100000"/>
              <a:buFont typeface="+mj-lt"/>
              <a:buAutoNum type="arabicPeriod" startAt="1"/>
            </a:pPr>
            <a:r>
              <a:rPr lang="en-US" sz="950" dirty="0">
                <a:solidFill>
                  <a:srgbClr val="5B5F71"/>
                </a:solidFill>
                <a:latin typeface="Instrument Sans Medium" pitchFamily="34" charset="0"/>
                <a:ea typeface="Instrument Sans Medium" pitchFamily="34" charset="-122"/>
                <a:cs typeface="Instrument Sans Medium" pitchFamily="34" charset="-120"/>
              </a:rPr>
              <a:t>Farmer delivers produce at the collection point</a:t>
            </a:r>
            <a:endParaRPr lang="en-US" sz="950" dirty="0"/>
          </a:p>
          <a:p>
            <a:pPr algn="l" marL="193040" indent="-193040">
              <a:lnSpc>
                <a:spcPct val="133000"/>
              </a:lnSpc>
              <a:buSzPct val="100000"/>
              <a:buFont typeface="+mj-lt"/>
              <a:buAutoNum type="arabicPeriod" startAt="2"/>
            </a:pPr>
            <a:r>
              <a:rPr lang="en-US" sz="950" dirty="0">
                <a:solidFill>
                  <a:srgbClr val="5B5F71"/>
                </a:solidFill>
                <a:latin typeface="Instrument Sans Medium" pitchFamily="34" charset="0"/>
                <a:ea typeface="Instrument Sans Medium" pitchFamily="34" charset="-122"/>
                <a:cs typeface="Instrument Sans Medium" pitchFamily="34" charset="-120"/>
              </a:rPr>
              <a:t>Operator records quantity and rate on a paper slip</a:t>
            </a:r>
            <a:endParaRPr lang="en-US" sz="950" dirty="0"/>
          </a:p>
          <a:p>
            <a:pPr algn="l" marL="193040" indent="-193040">
              <a:lnSpc>
                <a:spcPct val="133000"/>
              </a:lnSpc>
              <a:buSzPct val="100000"/>
              <a:buFont typeface="+mj-lt"/>
              <a:buAutoNum type="arabicPeriod" startAt="3"/>
            </a:pPr>
            <a:r>
              <a:rPr lang="en-US" sz="950" dirty="0">
                <a:solidFill>
                  <a:srgbClr val="5B5F71"/>
                </a:solidFill>
                <a:latin typeface="Instrument Sans Medium" pitchFamily="34" charset="0"/>
                <a:ea typeface="Instrument Sans Medium" pitchFamily="34" charset="-122"/>
                <a:cs typeface="Instrument Sans Medium" pitchFamily="34" charset="-120"/>
              </a:rPr>
              <a:t>Slips are collected and processed later</a:t>
            </a:r>
            <a:endParaRPr lang="en-US" sz="950" dirty="0"/>
          </a:p>
          <a:p>
            <a:pPr algn="l" marL="193040" indent="-193040">
              <a:lnSpc>
                <a:spcPct val="133000"/>
              </a:lnSpc>
              <a:buSzPct val="100000"/>
              <a:buFont typeface="+mj-lt"/>
              <a:buAutoNum type="arabicPeriod" startAt="4"/>
            </a:pPr>
            <a:r>
              <a:rPr lang="en-US" sz="950" dirty="0">
                <a:solidFill>
                  <a:srgbClr val="5B5F71"/>
                </a:solidFill>
                <a:latin typeface="Instrument Sans Medium" pitchFamily="34" charset="0"/>
                <a:ea typeface="Instrument Sans Medium" pitchFamily="34" charset="-122"/>
                <a:cs typeface="Instrument Sans Medium" pitchFamily="34" charset="-120"/>
              </a:rPr>
              <a:t>Payments are calculated manually</a:t>
            </a:r>
            <a:endParaRPr lang="en-US" sz="950" dirty="0"/>
          </a:p>
        </p:txBody>
      </p:sp>
      <p:sp>
        <p:nvSpPr>
          <p:cNvPr id="5" name="Text 3"/>
          <p:cNvSpPr/>
          <p:nvPr/>
        </p:nvSpPr>
        <p:spPr>
          <a:xfrm>
            <a:off x="4728046" y="1321371"/>
            <a:ext cx="3924598" cy="193849"/>
          </a:xfrm>
          <a:prstGeom prst="rect">
            <a:avLst/>
          </a:prstGeom>
          <a:noFill/>
          <a:ln/>
        </p:spPr>
        <p:txBody>
          <a:bodyPr wrap="none" lIns="0" tIns="0" rIns="0" bIns="0" rtlCol="0" anchor="t"/>
          <a:lstStyle/>
          <a:p>
            <a:pPr algn="l" indent="0" marL="0">
              <a:lnSpc>
                <a:spcPct val="104000"/>
              </a:lnSpc>
              <a:buNone/>
            </a:pPr>
            <a:r>
              <a:rPr lang="en-US" sz="1200" dirty="0">
                <a:solidFill>
                  <a:srgbClr val="505468"/>
                </a:solidFill>
                <a:latin typeface="Instrument Sans SemiBold" pitchFamily="34" charset="0"/>
                <a:ea typeface="Instrument Sans SemiBold" pitchFamily="34" charset="-122"/>
                <a:cs typeface="Instrument Sans SemiBold" pitchFamily="34" charset="-120"/>
              </a:rPr>
              <a:t>Main Problems</a:t>
            </a:r>
            <a:endParaRPr lang="en-US" sz="1200" dirty="0"/>
          </a:p>
        </p:txBody>
      </p:sp>
      <p:sp>
        <p:nvSpPr>
          <p:cNvPr id="6" name="Text 4"/>
          <p:cNvSpPr/>
          <p:nvPr/>
        </p:nvSpPr>
        <p:spPr>
          <a:xfrm>
            <a:off x="4728046" y="1639193"/>
            <a:ext cx="3924598" cy="1606153"/>
          </a:xfrm>
          <a:prstGeom prst="rect">
            <a:avLst/>
          </a:prstGeom>
          <a:noFill/>
          <a:ln/>
        </p:spPr>
        <p:txBody>
          <a:bodyPr wrap="square" lIns="0" tIns="0" rIns="0" bIns="0" rtlCol="0" anchor="t">
            <a:normAutofit/>
          </a:bodyPr>
          <a:lstStyle/>
          <a:p>
            <a:pPr algn="l" marL="193040" indent="-193040">
              <a:lnSpc>
                <a:spcPct val="133000"/>
              </a:lnSpc>
              <a:buSzPct val="100000"/>
              <a:buChar char="•"/>
            </a:pPr>
            <a:r>
              <a:rPr lang="en-US" sz="950" dirty="0">
                <a:solidFill>
                  <a:srgbClr val="5B5F71"/>
                </a:solidFill>
                <a:latin typeface="Instrument Sans Medium" pitchFamily="34" charset="0"/>
                <a:ea typeface="Instrument Sans Medium" pitchFamily="34" charset="-122"/>
                <a:cs typeface="Instrument Sans Medium" pitchFamily="34" charset="-120"/>
              </a:rPr>
              <a:t>Paper slips may be lost, damaged, or entered incorrectly</a:t>
            </a:r>
            <a:endParaRPr lang="en-US" sz="950" dirty="0"/>
          </a:p>
          <a:p>
            <a:pPr algn="l" marL="193040" indent="-193040">
              <a:lnSpc>
                <a:spcPct val="133000"/>
              </a:lnSpc>
              <a:buSzPct val="100000"/>
              <a:buChar char="•"/>
            </a:pPr>
            <a:r>
              <a:rPr lang="en-US" sz="950" dirty="0">
                <a:solidFill>
                  <a:srgbClr val="5B5F71"/>
                </a:solidFill>
                <a:latin typeface="Instrument Sans Medium" pitchFamily="34" charset="0"/>
                <a:ea typeface="Instrument Sans Medium" pitchFamily="34" charset="-122"/>
                <a:cs typeface="Instrument Sans Medium" pitchFamily="34" charset="-120"/>
              </a:rPr>
              <a:t>Manual calculation delays farmer payments</a:t>
            </a:r>
            <a:endParaRPr lang="en-US" sz="950" dirty="0"/>
          </a:p>
          <a:p>
            <a:pPr algn="l" marL="193040" indent="-193040">
              <a:lnSpc>
                <a:spcPct val="133000"/>
              </a:lnSpc>
              <a:buSzPct val="100000"/>
              <a:buChar char="•"/>
            </a:pPr>
            <a:r>
              <a:rPr lang="en-US" sz="950" dirty="0">
                <a:solidFill>
                  <a:srgbClr val="5B5F71"/>
                </a:solidFill>
                <a:latin typeface="Instrument Sans Medium" pitchFamily="34" charset="0"/>
                <a:ea typeface="Instrument Sans Medium" pitchFamily="34" charset="-122"/>
                <a:cs typeface="Instrument Sans Medium" pitchFamily="34" charset="-120"/>
              </a:rPr>
              <a:t>Farmers cannot immediately verify their delivery records</a:t>
            </a:r>
            <a:endParaRPr lang="en-US" sz="950" dirty="0"/>
          </a:p>
          <a:p>
            <a:pPr algn="l" marL="193040" indent="-193040">
              <a:lnSpc>
                <a:spcPct val="133000"/>
              </a:lnSpc>
              <a:buSzPct val="100000"/>
              <a:buChar char="•"/>
            </a:pPr>
            <a:r>
              <a:rPr lang="en-US" sz="950" dirty="0">
                <a:solidFill>
                  <a:srgbClr val="5B5F71"/>
                </a:solidFill>
                <a:latin typeface="Instrument Sans Medium" pitchFamily="34" charset="0"/>
                <a:ea typeface="Instrument Sans Medium" pitchFamily="34" charset="-122"/>
                <a:cs typeface="Instrument Sans Medium" pitchFamily="34" charset="-120"/>
              </a:rPr>
              <a:t>Quantity and rate disagreements are difficult to investigate</a:t>
            </a:r>
            <a:endParaRPr lang="en-US" sz="950" dirty="0"/>
          </a:p>
          <a:p>
            <a:pPr algn="l" marL="193040" indent="-193040">
              <a:lnSpc>
                <a:spcPct val="133000"/>
              </a:lnSpc>
              <a:buSzPct val="100000"/>
              <a:buChar char="•"/>
            </a:pPr>
            <a:r>
              <a:rPr lang="en-US" sz="950" dirty="0">
                <a:solidFill>
                  <a:srgbClr val="5B5F71"/>
                </a:solidFill>
                <a:latin typeface="Instrument Sans Medium" pitchFamily="34" charset="0"/>
                <a:ea typeface="Instrument Sans Medium" pitchFamily="34" charset="-122"/>
                <a:cs typeface="Instrument Sans Medium" pitchFamily="34" charset="-120"/>
              </a:rPr>
              <a:t>No reliable history of corrections or status changes</a:t>
            </a:r>
            <a:endParaRPr lang="en-US" sz="950" dirty="0"/>
          </a:p>
          <a:p>
            <a:pPr algn="l" marL="193040" indent="-193040">
              <a:lnSpc>
                <a:spcPct val="133000"/>
              </a:lnSpc>
              <a:buSzPct val="100000"/>
              <a:buChar char="•"/>
            </a:pPr>
            <a:r>
              <a:rPr lang="en-US" sz="950" dirty="0">
                <a:solidFill>
                  <a:srgbClr val="5B5F71"/>
                </a:solidFill>
                <a:latin typeface="Instrument Sans Medium" pitchFamily="34" charset="0"/>
                <a:ea typeface="Instrument Sans Medium" pitchFamily="34" charset="-122"/>
                <a:cs typeface="Instrument Sans Medium" pitchFamily="34" charset="-120"/>
              </a:rPr>
              <a:t>Secretary must manually scan records to find cases requiring attention</a:t>
            </a:r>
            <a:endParaRPr lang="en-US" sz="950" dirty="0"/>
          </a:p>
        </p:txBody>
      </p:sp>
      <p:sp>
        <p:nvSpPr>
          <p:cNvPr id="7" name="Shape 5"/>
          <p:cNvSpPr/>
          <p:nvPr/>
        </p:nvSpPr>
        <p:spPr>
          <a:xfrm>
            <a:off x="496119" y="3428256"/>
            <a:ext cx="8151763" cy="1091357"/>
          </a:xfrm>
          <a:prstGeom prst="roundRect">
            <a:avLst>
              <a:gd name="adj" fmla="val 4774"/>
            </a:avLst>
          </a:prstGeom>
          <a:solidFill>
            <a:srgbClr val="E2E3E9"/>
          </a:solidFill>
          <a:ln/>
        </p:spPr>
      </p:sp>
      <p:pic>
        <p:nvPicPr>
          <p:cNvPr id="8" name="Image 0" descr="preencoded.png">    </p:cNvPr>
          <p:cNvPicPr>
            <a:picLocks noChangeAspect="1"/>
          </p:cNvPicPr>
          <p:nvPr/>
        </p:nvPicPr>
        <p:blipFill>
          <a:blip r:embed="rId1"/>
          <a:stretch>
            <a:fillRect/>
          </a:stretch>
        </p:blipFill>
        <p:spPr>
          <a:xfrm>
            <a:off x="620092" y="3608040"/>
            <a:ext cx="155004" cy="123974"/>
          </a:xfrm>
          <a:prstGeom prst="rect">
            <a:avLst/>
          </a:prstGeom>
        </p:spPr>
      </p:pic>
      <p:sp>
        <p:nvSpPr>
          <p:cNvPr id="9" name="Text 6"/>
          <p:cNvSpPr/>
          <p:nvPr/>
        </p:nvSpPr>
        <p:spPr>
          <a:xfrm>
            <a:off x="899071" y="3583186"/>
            <a:ext cx="7624837" cy="793849"/>
          </a:xfrm>
          <a:prstGeom prst="rect">
            <a:avLst/>
          </a:prstGeom>
          <a:noFill/>
          <a:ln/>
        </p:spPr>
        <p:txBody>
          <a:bodyPr wrap="square" lIns="0" tIns="0" rIns="0" bIns="0" rtlCol="0" anchor="t">
            <a:normAutofit/>
          </a:bodyPr>
          <a:lstStyle/>
          <a:p>
            <a:pPr algn="l" indent="0" marL="0">
              <a:lnSpc>
                <a:spcPct val="133000"/>
              </a:lnSpc>
              <a:buNone/>
            </a:pPr>
            <a:r>
              <a:rPr lang="en-US" sz="950" b="1" dirty="0">
                <a:solidFill>
                  <a:srgbClr val="000000"/>
                </a:solidFill>
                <a:latin typeface="Instrument Sans Bold" pitchFamily="34" charset="0"/>
                <a:ea typeface="Instrument Sans Bold" pitchFamily="34" charset="-122"/>
                <a:cs typeface="Instrument Sans Bold" pitchFamily="34" charset="-120"/>
              </a:rPr>
              <a:t>Key Research Insight:</a:t>
            </a:r>
            <a:pPr algn="l" indent="0" marL="0">
              <a:lnSpc>
                <a:spcPct val="133000"/>
              </a:lnSpc>
              <a:buNone/>
            </a:pPr>
            <a:r>
              <a:rPr lang="en-US" sz="950" dirty="0">
                <a:solidFill>
                  <a:srgbClr val="000000"/>
                </a:solidFill>
                <a:latin typeface="Instrument Sans Medium" pitchFamily="34" charset="0"/>
                <a:ea typeface="Instrument Sans Medium" pitchFamily="34" charset="-122"/>
                <a:cs typeface="Instrument Sans Medium" pitchFamily="34" charset="-120"/>
              </a:rPr>
              <a:t> Farmer Producer Organisations aggregate member produce and manage agricultural supply-chain activities — reliable records are essential for transparent member transactions and group governance. FAO research identifies productivity, cost efficiency, market access, and inclusion as potential benefits of digital agriculture, while noting that rural connectivity and digital skills must be considered.</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96119" y="376163"/>
            <a:ext cx="8151763" cy="381521"/>
          </a:xfrm>
          <a:prstGeom prst="rect">
            <a:avLst/>
          </a:prstGeom>
          <a:noFill/>
          <a:ln/>
        </p:spPr>
        <p:txBody>
          <a:bodyPr wrap="none" lIns="0" tIns="0" rIns="0" bIns="0" rtlCol="0" anchor="t"/>
          <a:lstStyle/>
          <a:p>
            <a:pPr algn="l" indent="0" marL="0">
              <a:lnSpc>
                <a:spcPct val="104000"/>
              </a:lnSpc>
              <a:buNone/>
            </a:pPr>
            <a:r>
              <a:rPr lang="en-US" sz="2400" dirty="0">
                <a:solidFill>
                  <a:srgbClr val="505468"/>
                </a:solidFill>
                <a:latin typeface="Instrument Sans SemiBold" pitchFamily="34" charset="0"/>
                <a:ea typeface="Instrument Sans SemiBold" pitchFamily="34" charset="-122"/>
                <a:cs typeface="Instrument Sans SemiBold" pitchFamily="34" charset="-120"/>
              </a:rPr>
              <a:t>One Digital Record from Delivery to Payment</a:t>
            </a:r>
            <a:endParaRPr lang="en-US" sz="2400" dirty="0"/>
          </a:p>
        </p:txBody>
      </p:sp>
      <p:sp>
        <p:nvSpPr>
          <p:cNvPr id="3" name="Text 1"/>
          <p:cNvSpPr/>
          <p:nvPr/>
        </p:nvSpPr>
        <p:spPr>
          <a:xfrm>
            <a:off x="496119" y="998041"/>
            <a:ext cx="8151763" cy="387697"/>
          </a:xfrm>
          <a:prstGeom prst="rect">
            <a:avLst/>
          </a:prstGeom>
          <a:noFill/>
          <a:ln/>
        </p:spPr>
        <p:txBody>
          <a:bodyPr wrap="square" lIns="0" tIns="0" rIns="0" bIns="0" rtlCol="0" anchor="t">
            <a:normAutofit/>
          </a:bodyPr>
          <a:lstStyle/>
          <a:p>
            <a:pPr algn="l" indent="0" marL="0">
              <a:lnSpc>
                <a:spcPct val="132000"/>
              </a:lnSpc>
              <a:buNone/>
            </a:pPr>
            <a:r>
              <a:rPr lang="en-US" sz="950" b="1" dirty="0">
                <a:solidFill>
                  <a:srgbClr val="5B5F71"/>
                </a:solidFill>
                <a:latin typeface="Instrument Sans Bold" pitchFamily="34" charset="0"/>
                <a:ea typeface="Instrument Sans Bold" pitchFamily="34" charset="-122"/>
                <a:cs typeface="Instrument Sans Bold" pitchFamily="34" charset="-120"/>
              </a:rPr>
              <a:t>HarvestTrust</a:t>
            </a:r>
            <a:pPr algn="l" indent="0" marL="0">
              <a:lnSpc>
                <a:spcPct val="132000"/>
              </a:lnSpc>
              <a:buNone/>
            </a:pPr>
            <a:r>
              <a:rPr lang="en-US" sz="950" dirty="0">
                <a:solidFill>
                  <a:srgbClr val="5B5F71"/>
                </a:solidFill>
                <a:latin typeface="Instrument Sans Medium" pitchFamily="34" charset="0"/>
                <a:ea typeface="Instrument Sans Medium" pitchFamily="34" charset="-122"/>
                <a:cs typeface="Instrument Sans Medium" pitchFamily="34" charset="-120"/>
              </a:rPr>
              <a:t> records every delivery immediately, calculates what the farmer is owed, and provides a clear statement of deliveries, payments, and balance.</a:t>
            </a:r>
            <a:endParaRPr lang="en-US" sz="950" dirty="0"/>
          </a:p>
        </p:txBody>
      </p:sp>
      <p:sp>
        <p:nvSpPr>
          <p:cNvPr id="4" name="Text 2"/>
          <p:cNvSpPr/>
          <p:nvPr/>
        </p:nvSpPr>
        <p:spPr>
          <a:xfrm>
            <a:off x="496119" y="1641128"/>
            <a:ext cx="3926979" cy="190723"/>
          </a:xfrm>
          <a:prstGeom prst="rect">
            <a:avLst/>
          </a:prstGeom>
          <a:noFill/>
          <a:ln/>
        </p:spPr>
        <p:txBody>
          <a:bodyPr wrap="none" lIns="0" tIns="0" rIns="0" bIns="0" rtlCol="0" anchor="t"/>
          <a:lstStyle/>
          <a:p>
            <a:pPr algn="l" indent="0" marL="0">
              <a:lnSpc>
                <a:spcPct val="104000"/>
              </a:lnSpc>
              <a:buNone/>
            </a:pPr>
            <a:r>
              <a:rPr lang="en-US" sz="1200" dirty="0">
                <a:solidFill>
                  <a:srgbClr val="505468"/>
                </a:solidFill>
                <a:latin typeface="Instrument Sans SemiBold" pitchFamily="34" charset="0"/>
                <a:ea typeface="Instrument Sans SemiBold" pitchFamily="34" charset="-122"/>
                <a:cs typeface="Instrument Sans SemiBold" pitchFamily="34" charset="-120"/>
              </a:rPr>
              <a:t>Core Capabilities</a:t>
            </a:r>
            <a:endParaRPr lang="en-US" sz="1200" dirty="0"/>
          </a:p>
        </p:txBody>
      </p:sp>
      <p:sp>
        <p:nvSpPr>
          <p:cNvPr id="5" name="Text 3"/>
          <p:cNvSpPr/>
          <p:nvPr/>
        </p:nvSpPr>
        <p:spPr>
          <a:xfrm>
            <a:off x="496119" y="1952030"/>
            <a:ext cx="3926979" cy="2274838"/>
          </a:xfrm>
          <a:prstGeom prst="rect">
            <a:avLst/>
          </a:prstGeom>
          <a:noFill/>
          <a:ln/>
        </p:spPr>
        <p:txBody>
          <a:bodyPr wrap="square" lIns="0" tIns="0" rIns="0" bIns="0" rtlCol="0" anchor="t">
            <a:normAutofit/>
          </a:bodyPr>
          <a:lstStyle/>
          <a:p>
            <a:pPr algn="l" marL="193040" indent="-193040">
              <a:lnSpc>
                <a:spcPct val="132000"/>
              </a:lnSpc>
              <a:buSzPct val="100000"/>
              <a:buChar char="•"/>
            </a:pPr>
            <a:r>
              <a:rPr lang="en-US" sz="950" dirty="0">
                <a:solidFill>
                  <a:srgbClr val="5B5F71"/>
                </a:solidFill>
                <a:latin typeface="Instrument Sans Medium" pitchFamily="34" charset="0"/>
                <a:ea typeface="Instrument Sans Medium" pitchFamily="34" charset="-122"/>
                <a:cs typeface="Instrument Sans Medium" pitchFamily="34" charset="-120"/>
              </a:rPr>
              <a:t>Register every delivery against the correct farmer</a:t>
            </a:r>
            <a:endParaRPr lang="en-US" sz="950" dirty="0"/>
          </a:p>
          <a:p>
            <a:pPr algn="l" marL="193040" indent="-193040">
              <a:lnSpc>
                <a:spcPct val="132000"/>
              </a:lnSpc>
              <a:buSzPct val="100000"/>
              <a:buChar char="•"/>
            </a:pPr>
            <a:r>
              <a:rPr lang="en-US" sz="950" dirty="0">
                <a:solidFill>
                  <a:srgbClr val="5B5F71"/>
                </a:solidFill>
                <a:latin typeface="Instrument Sans Medium" pitchFamily="34" charset="0"/>
                <a:ea typeface="Instrument Sans Medium" pitchFamily="34" charset="-122"/>
                <a:cs typeface="Instrument Sans Medium" pitchFamily="34" charset="-120"/>
              </a:rPr>
              <a:t>Capture produce, collection point, quantity, unit, rate, date, and quality details</a:t>
            </a:r>
            <a:endParaRPr lang="en-US" sz="950" dirty="0"/>
          </a:p>
          <a:p>
            <a:pPr algn="l" marL="193040" indent="-193040">
              <a:lnSpc>
                <a:spcPct val="132000"/>
              </a:lnSpc>
              <a:buSzPct val="100000"/>
              <a:buChar char="•"/>
            </a:pPr>
            <a:r>
              <a:rPr lang="en-US" sz="950" dirty="0">
                <a:solidFill>
                  <a:srgbClr val="5B5F71"/>
                </a:solidFill>
                <a:latin typeface="Instrument Sans Medium" pitchFamily="34" charset="0"/>
                <a:ea typeface="Instrument Sans Medium" pitchFamily="34" charset="-122"/>
                <a:cs typeface="Instrument Sans Medium" pitchFamily="34" charset="-120"/>
              </a:rPr>
              <a:t>Calculate the authoritative amount on the server</a:t>
            </a:r>
            <a:endParaRPr lang="en-US" sz="950" dirty="0"/>
          </a:p>
          <a:p>
            <a:pPr algn="l" marL="193040" indent="-193040">
              <a:lnSpc>
                <a:spcPct val="132000"/>
              </a:lnSpc>
              <a:buSzPct val="100000"/>
              <a:buChar char="•"/>
            </a:pPr>
            <a:r>
              <a:rPr lang="en-US" sz="950" dirty="0">
                <a:solidFill>
                  <a:srgbClr val="5B5F71"/>
                </a:solidFill>
                <a:latin typeface="Instrument Sans Medium" pitchFamily="34" charset="0"/>
                <a:ea typeface="Instrument Sans Medium" pitchFamily="34" charset="-122"/>
                <a:cs typeface="Instrument Sans Medium" pitchFamily="34" charset="-120"/>
              </a:rPr>
              <a:t>Generate a unique digital receipt</a:t>
            </a:r>
            <a:endParaRPr lang="en-US" sz="950" dirty="0"/>
          </a:p>
          <a:p>
            <a:pPr algn="l" marL="193040" indent="-193040">
              <a:lnSpc>
                <a:spcPct val="132000"/>
              </a:lnSpc>
              <a:buSzPct val="100000"/>
              <a:buChar char="•"/>
            </a:pPr>
            <a:r>
              <a:rPr lang="en-US" sz="950" dirty="0">
                <a:solidFill>
                  <a:srgbClr val="5B5F71"/>
                </a:solidFill>
                <a:latin typeface="Instrument Sans Medium" pitchFamily="34" charset="0"/>
                <a:ea typeface="Instrument Sans Medium" pitchFamily="34" charset="-122"/>
                <a:cs typeface="Instrument Sans Medium" pitchFamily="34" charset="-120"/>
              </a:rPr>
              <a:t>Maintain rate, status, payment, and audit history</a:t>
            </a:r>
            <a:endParaRPr lang="en-US" sz="950" dirty="0"/>
          </a:p>
          <a:p>
            <a:pPr algn="l" marL="193040" indent="-193040">
              <a:lnSpc>
                <a:spcPct val="132000"/>
              </a:lnSpc>
              <a:buSzPct val="100000"/>
              <a:buChar char="•"/>
            </a:pPr>
            <a:r>
              <a:rPr lang="en-US" sz="950" dirty="0">
                <a:solidFill>
                  <a:srgbClr val="5B5F71"/>
                </a:solidFill>
                <a:latin typeface="Instrument Sans Medium" pitchFamily="34" charset="0"/>
                <a:ea typeface="Instrument Sans Medium" pitchFamily="34" charset="-122"/>
                <a:cs typeface="Instrument Sans Medium" pitchFamily="34" charset="-120"/>
              </a:rPr>
              <a:t>Search and filter the collection register</a:t>
            </a:r>
            <a:endParaRPr lang="en-US" sz="950" dirty="0"/>
          </a:p>
          <a:p>
            <a:pPr algn="l" marL="193040" indent="-193040">
              <a:lnSpc>
                <a:spcPct val="132000"/>
              </a:lnSpc>
              <a:buSzPct val="100000"/>
              <a:buChar char="•"/>
            </a:pPr>
            <a:r>
              <a:rPr lang="en-US" sz="950" dirty="0">
                <a:solidFill>
                  <a:srgbClr val="5B5F71"/>
                </a:solidFill>
                <a:latin typeface="Instrument Sans Medium" pitchFamily="34" charset="0"/>
                <a:ea typeface="Instrument Sans Medium" pitchFamily="34" charset="-122"/>
                <a:cs typeface="Instrument Sans Medium" pitchFamily="34" charset="-120"/>
              </a:rPr>
              <a:t>Show cases requiring attention first</a:t>
            </a:r>
            <a:endParaRPr lang="en-US" sz="950" dirty="0"/>
          </a:p>
          <a:p>
            <a:pPr algn="l" marL="193040" indent="-193040">
              <a:lnSpc>
                <a:spcPct val="132000"/>
              </a:lnSpc>
              <a:buSzPct val="100000"/>
              <a:buChar char="•"/>
            </a:pPr>
            <a:r>
              <a:rPr lang="en-US" sz="950" dirty="0">
                <a:solidFill>
                  <a:srgbClr val="5B5F71"/>
                </a:solidFill>
                <a:latin typeface="Instrument Sans Medium" pitchFamily="34" charset="0"/>
                <a:ea typeface="Instrument Sans Medium" pitchFamily="34" charset="-122"/>
                <a:cs typeface="Instrument Sans Medium" pitchFamily="34" charset="-120"/>
              </a:rPr>
              <a:t>Generate member delivery and payment statements</a:t>
            </a:r>
            <a:endParaRPr lang="en-US" sz="950" dirty="0"/>
          </a:p>
          <a:p>
            <a:pPr algn="l" marL="193040" indent="-193040">
              <a:lnSpc>
                <a:spcPct val="132000"/>
              </a:lnSpc>
              <a:buSzPct val="100000"/>
              <a:buChar char="•"/>
            </a:pPr>
            <a:r>
              <a:rPr lang="en-US" sz="950" dirty="0">
                <a:solidFill>
                  <a:srgbClr val="5B5F71"/>
                </a:solidFill>
                <a:latin typeface="Instrument Sans Medium" pitchFamily="34" charset="0"/>
                <a:ea typeface="Instrument Sans Medium" pitchFamily="34" charset="-122"/>
                <a:cs typeface="Instrument Sans Medium" pitchFamily="34" charset="-120"/>
              </a:rPr>
              <a:t>Predict whether a delivery may need manual review</a:t>
            </a:r>
            <a:endParaRPr lang="en-US" sz="950" dirty="0"/>
          </a:p>
        </p:txBody>
      </p:sp>
      <p:sp>
        <p:nvSpPr>
          <p:cNvPr id="6" name="Text 4"/>
          <p:cNvSpPr/>
          <p:nvPr/>
        </p:nvSpPr>
        <p:spPr>
          <a:xfrm>
            <a:off x="4725665" y="1641128"/>
            <a:ext cx="3926979" cy="190723"/>
          </a:xfrm>
          <a:prstGeom prst="rect">
            <a:avLst/>
          </a:prstGeom>
          <a:noFill/>
          <a:ln/>
        </p:spPr>
        <p:txBody>
          <a:bodyPr wrap="none" lIns="0" tIns="0" rIns="0" bIns="0" rtlCol="0" anchor="t"/>
          <a:lstStyle/>
          <a:p>
            <a:pPr algn="l" indent="0" marL="0">
              <a:lnSpc>
                <a:spcPct val="104000"/>
              </a:lnSpc>
              <a:buNone/>
            </a:pPr>
            <a:r>
              <a:rPr lang="en-US" sz="1200" dirty="0">
                <a:solidFill>
                  <a:srgbClr val="505468"/>
                </a:solidFill>
                <a:latin typeface="Instrument Sans SemiBold" pitchFamily="34" charset="0"/>
                <a:ea typeface="Instrument Sans SemiBold" pitchFamily="34" charset="-122"/>
                <a:cs typeface="Instrument Sans SemiBold" pitchFamily="34" charset="-120"/>
              </a:rPr>
              <a:t>Before vs After HarvestTrust</a:t>
            </a:r>
            <a:endParaRPr lang="en-US" sz="1200" dirty="0"/>
          </a:p>
        </p:txBody>
      </p:sp>
      <p:sp>
        <p:nvSpPr>
          <p:cNvPr id="7" name="Shape 5"/>
          <p:cNvSpPr/>
          <p:nvPr/>
        </p:nvSpPr>
        <p:spPr>
          <a:xfrm>
            <a:off x="4725665" y="1967061"/>
            <a:ext cx="3926979" cy="2665065"/>
          </a:xfrm>
          <a:prstGeom prst="roundRect">
            <a:avLst>
              <a:gd name="adj" fmla="val 1924"/>
            </a:avLst>
          </a:prstGeom>
          <a:noFill/>
          <a:ln w="4763">
            <a:solidFill>
              <a:srgbClr val="000000">
                <a:alpha val="8000"/>
              </a:srgbClr>
            </a:solidFill>
            <a:prstDash val="solid"/>
          </a:ln>
        </p:spPr>
      </p:sp>
      <p:sp>
        <p:nvSpPr>
          <p:cNvPr id="8" name="Shape 6"/>
          <p:cNvSpPr/>
          <p:nvPr/>
        </p:nvSpPr>
        <p:spPr>
          <a:xfrm>
            <a:off x="4725665" y="2321793"/>
            <a:ext cx="3926979" cy="7632"/>
          </a:xfrm>
          <a:prstGeom prst="rect">
            <a:avLst/>
          </a:prstGeom>
          <a:solidFill>
            <a:srgbClr val="000000">
              <a:alpha val="8000"/>
            </a:srgbClr>
          </a:solidFill>
          <a:ln/>
        </p:spPr>
      </p:sp>
      <p:sp>
        <p:nvSpPr>
          <p:cNvPr id="9" name="Shape 7"/>
          <p:cNvSpPr/>
          <p:nvPr/>
        </p:nvSpPr>
        <p:spPr>
          <a:xfrm>
            <a:off x="4725665" y="2674144"/>
            <a:ext cx="3926979" cy="7632"/>
          </a:xfrm>
          <a:prstGeom prst="rect">
            <a:avLst/>
          </a:prstGeom>
          <a:solidFill>
            <a:srgbClr val="000000">
              <a:alpha val="8000"/>
            </a:srgbClr>
          </a:solidFill>
          <a:ln/>
        </p:spPr>
      </p:sp>
      <p:sp>
        <p:nvSpPr>
          <p:cNvPr id="10" name="Shape 8"/>
          <p:cNvSpPr/>
          <p:nvPr/>
        </p:nvSpPr>
        <p:spPr>
          <a:xfrm>
            <a:off x="4725665" y="3026494"/>
            <a:ext cx="3926979" cy="7632"/>
          </a:xfrm>
          <a:prstGeom prst="rect">
            <a:avLst/>
          </a:prstGeom>
          <a:solidFill>
            <a:srgbClr val="000000">
              <a:alpha val="8000"/>
            </a:srgbClr>
          </a:solidFill>
          <a:ln/>
        </p:spPr>
      </p:sp>
      <p:sp>
        <p:nvSpPr>
          <p:cNvPr id="11" name="Shape 9"/>
          <p:cNvSpPr/>
          <p:nvPr/>
        </p:nvSpPr>
        <p:spPr>
          <a:xfrm>
            <a:off x="4725665" y="3572694"/>
            <a:ext cx="3926979" cy="7632"/>
          </a:xfrm>
          <a:prstGeom prst="rect">
            <a:avLst/>
          </a:prstGeom>
          <a:solidFill>
            <a:srgbClr val="000000">
              <a:alpha val="8000"/>
            </a:srgbClr>
          </a:solidFill>
          <a:ln/>
        </p:spPr>
      </p:sp>
      <p:sp>
        <p:nvSpPr>
          <p:cNvPr id="12" name="Shape 10"/>
          <p:cNvSpPr/>
          <p:nvPr/>
        </p:nvSpPr>
        <p:spPr>
          <a:xfrm>
            <a:off x="4725665" y="3925044"/>
            <a:ext cx="3926979" cy="7632"/>
          </a:xfrm>
          <a:prstGeom prst="rect">
            <a:avLst/>
          </a:prstGeom>
          <a:solidFill>
            <a:srgbClr val="000000">
              <a:alpha val="8000"/>
            </a:srgbClr>
          </a:solidFill>
          <a:ln/>
        </p:spPr>
      </p:sp>
      <p:sp>
        <p:nvSpPr>
          <p:cNvPr id="13" name="Shape 11"/>
          <p:cNvSpPr/>
          <p:nvPr/>
        </p:nvSpPr>
        <p:spPr>
          <a:xfrm>
            <a:off x="4725665" y="4277395"/>
            <a:ext cx="3926979" cy="7632"/>
          </a:xfrm>
          <a:prstGeom prst="rect">
            <a:avLst/>
          </a:prstGeom>
          <a:solidFill>
            <a:srgbClr val="000000">
              <a:alpha val="8000"/>
            </a:srgbClr>
          </a:solidFill>
          <a:ln/>
        </p:spPr>
      </p:sp>
      <p:sp>
        <p:nvSpPr>
          <p:cNvPr id="14" name="Shape 12"/>
          <p:cNvSpPr/>
          <p:nvPr/>
        </p:nvSpPr>
        <p:spPr>
          <a:xfrm>
            <a:off x="4730428" y="1971824"/>
            <a:ext cx="1958727" cy="349969"/>
          </a:xfrm>
          <a:prstGeom prst="rect">
            <a:avLst/>
          </a:prstGeom>
          <a:solidFill>
            <a:srgbClr val="505468"/>
          </a:solidFill>
          <a:ln/>
        </p:spPr>
      </p:sp>
      <p:sp>
        <p:nvSpPr>
          <p:cNvPr id="15" name="Text 13"/>
          <p:cNvSpPr/>
          <p:nvPr/>
        </p:nvSpPr>
        <p:spPr>
          <a:xfrm>
            <a:off x="4852467" y="2048694"/>
            <a:ext cx="2171849" cy="193849"/>
          </a:xfrm>
          <a:prstGeom prst="rect">
            <a:avLst/>
          </a:prstGeom>
          <a:noFill/>
          <a:ln/>
        </p:spPr>
        <p:txBody>
          <a:bodyPr wrap="none" lIns="0" tIns="0" rIns="0" bIns="0" rtlCol="0" anchor="t"/>
          <a:lstStyle/>
          <a:p>
            <a:pPr algn="l" indent="0" marL="0">
              <a:lnSpc>
                <a:spcPct val="132000"/>
              </a:lnSpc>
              <a:buNone/>
            </a:pPr>
            <a:r>
              <a:rPr lang="en-US" sz="950" b="1" dirty="0">
                <a:solidFill>
                  <a:srgbClr val="FFFFFF"/>
                </a:solidFill>
                <a:latin typeface="Instrument Sans Bold" pitchFamily="34" charset="0"/>
                <a:ea typeface="Instrument Sans Bold" pitchFamily="34" charset="-122"/>
                <a:cs typeface="Instrument Sans Bold" pitchFamily="34" charset="-120"/>
              </a:rPr>
              <a:t>Before HarvestTrust</a:t>
            </a:r>
            <a:endParaRPr lang="en-US" sz="950" dirty="0"/>
          </a:p>
        </p:txBody>
      </p:sp>
      <p:sp>
        <p:nvSpPr>
          <p:cNvPr id="16" name="Shape 14"/>
          <p:cNvSpPr/>
          <p:nvPr/>
        </p:nvSpPr>
        <p:spPr>
          <a:xfrm>
            <a:off x="6689154" y="1971824"/>
            <a:ext cx="1958727" cy="349969"/>
          </a:xfrm>
          <a:prstGeom prst="rect">
            <a:avLst/>
          </a:prstGeom>
          <a:solidFill>
            <a:srgbClr val="505468"/>
          </a:solidFill>
          <a:ln/>
        </p:spPr>
      </p:sp>
      <p:sp>
        <p:nvSpPr>
          <p:cNvPr id="17" name="Text 15"/>
          <p:cNvSpPr/>
          <p:nvPr/>
        </p:nvSpPr>
        <p:spPr>
          <a:xfrm>
            <a:off x="6811194" y="2048694"/>
            <a:ext cx="2171849" cy="193849"/>
          </a:xfrm>
          <a:prstGeom prst="rect">
            <a:avLst/>
          </a:prstGeom>
          <a:noFill/>
          <a:ln/>
        </p:spPr>
        <p:txBody>
          <a:bodyPr wrap="none" lIns="0" tIns="0" rIns="0" bIns="0" rtlCol="0" anchor="t"/>
          <a:lstStyle/>
          <a:p>
            <a:pPr algn="l" indent="0" marL="0">
              <a:lnSpc>
                <a:spcPct val="132000"/>
              </a:lnSpc>
              <a:buNone/>
            </a:pPr>
            <a:r>
              <a:rPr lang="en-US" sz="950" b="1" dirty="0">
                <a:solidFill>
                  <a:srgbClr val="FFFFFF"/>
                </a:solidFill>
                <a:latin typeface="Instrument Sans Bold" pitchFamily="34" charset="0"/>
                <a:ea typeface="Instrument Sans Bold" pitchFamily="34" charset="-122"/>
                <a:cs typeface="Instrument Sans Bold" pitchFamily="34" charset="-120"/>
              </a:rPr>
              <a:t>With HarvestTrust</a:t>
            </a:r>
            <a:endParaRPr lang="en-US" sz="950" dirty="0"/>
          </a:p>
        </p:txBody>
      </p:sp>
      <p:sp>
        <p:nvSpPr>
          <p:cNvPr id="18" name="Text 16"/>
          <p:cNvSpPr/>
          <p:nvPr/>
        </p:nvSpPr>
        <p:spPr>
          <a:xfrm>
            <a:off x="4852467" y="2401044"/>
            <a:ext cx="2171849" cy="193849"/>
          </a:xfrm>
          <a:prstGeom prst="rect">
            <a:avLst/>
          </a:prstGeom>
          <a:noFill/>
          <a:ln/>
        </p:spPr>
        <p:txBody>
          <a:bodyPr wrap="none" lIns="0" tIns="0" rIns="0" bIns="0" rtlCol="0" anchor="t"/>
          <a:lstStyle/>
          <a:p>
            <a:pPr algn="l" indent="0" marL="0">
              <a:lnSpc>
                <a:spcPct val="132000"/>
              </a:lnSpc>
              <a:buNone/>
            </a:pPr>
            <a:r>
              <a:rPr lang="en-US" sz="950" dirty="0">
                <a:solidFill>
                  <a:srgbClr val="5B5F71"/>
                </a:solidFill>
                <a:latin typeface="Instrument Sans Medium" pitchFamily="34" charset="0"/>
                <a:ea typeface="Instrument Sans Medium" pitchFamily="34" charset="-122"/>
                <a:cs typeface="Instrument Sans Medium" pitchFamily="34" charset="-120"/>
              </a:rPr>
              <a:t>Paper collection slip</a:t>
            </a:r>
            <a:endParaRPr lang="en-US" sz="950" dirty="0"/>
          </a:p>
        </p:txBody>
      </p:sp>
      <p:sp>
        <p:nvSpPr>
          <p:cNvPr id="19" name="Text 17"/>
          <p:cNvSpPr/>
          <p:nvPr/>
        </p:nvSpPr>
        <p:spPr>
          <a:xfrm>
            <a:off x="6811194" y="2401044"/>
            <a:ext cx="2171849" cy="193849"/>
          </a:xfrm>
          <a:prstGeom prst="rect">
            <a:avLst/>
          </a:prstGeom>
          <a:noFill/>
          <a:ln/>
        </p:spPr>
        <p:txBody>
          <a:bodyPr wrap="none" lIns="0" tIns="0" rIns="0" bIns="0" rtlCol="0" anchor="t"/>
          <a:lstStyle/>
          <a:p>
            <a:pPr algn="l" indent="0" marL="0">
              <a:lnSpc>
                <a:spcPct val="132000"/>
              </a:lnSpc>
              <a:buNone/>
            </a:pPr>
            <a:r>
              <a:rPr lang="en-US" sz="950" dirty="0">
                <a:solidFill>
                  <a:srgbClr val="5B5F71"/>
                </a:solidFill>
                <a:latin typeface="Instrument Sans Medium" pitchFamily="34" charset="0"/>
                <a:ea typeface="Instrument Sans Medium" pitchFamily="34" charset="-122"/>
                <a:cs typeface="Instrument Sans Medium" pitchFamily="34" charset="-120"/>
              </a:rPr>
              <a:t>Searchable digital record</a:t>
            </a:r>
            <a:endParaRPr lang="en-US" sz="950" dirty="0"/>
          </a:p>
        </p:txBody>
      </p:sp>
      <p:sp>
        <p:nvSpPr>
          <p:cNvPr id="20" name="Text 18"/>
          <p:cNvSpPr/>
          <p:nvPr/>
        </p:nvSpPr>
        <p:spPr>
          <a:xfrm>
            <a:off x="4852467" y="2753395"/>
            <a:ext cx="2171849" cy="193849"/>
          </a:xfrm>
          <a:prstGeom prst="rect">
            <a:avLst/>
          </a:prstGeom>
          <a:noFill/>
          <a:ln/>
        </p:spPr>
        <p:txBody>
          <a:bodyPr wrap="none" lIns="0" tIns="0" rIns="0" bIns="0" rtlCol="0" anchor="t"/>
          <a:lstStyle/>
          <a:p>
            <a:pPr algn="l" indent="0" marL="0">
              <a:lnSpc>
                <a:spcPct val="132000"/>
              </a:lnSpc>
              <a:buNone/>
            </a:pPr>
            <a:r>
              <a:rPr lang="en-US" sz="950" dirty="0">
                <a:solidFill>
                  <a:srgbClr val="5B5F71"/>
                </a:solidFill>
                <a:latin typeface="Instrument Sans Medium" pitchFamily="34" charset="0"/>
                <a:ea typeface="Instrument Sans Medium" pitchFamily="34" charset="-122"/>
                <a:cs typeface="Instrument Sans Medium" pitchFamily="34" charset="-120"/>
              </a:rPr>
              <a:t>Manual calculation</a:t>
            </a:r>
            <a:endParaRPr lang="en-US" sz="950" dirty="0"/>
          </a:p>
        </p:txBody>
      </p:sp>
      <p:sp>
        <p:nvSpPr>
          <p:cNvPr id="21" name="Text 19"/>
          <p:cNvSpPr/>
          <p:nvPr/>
        </p:nvSpPr>
        <p:spPr>
          <a:xfrm>
            <a:off x="6811194" y="2753395"/>
            <a:ext cx="2171849" cy="193849"/>
          </a:xfrm>
          <a:prstGeom prst="rect">
            <a:avLst/>
          </a:prstGeom>
          <a:noFill/>
          <a:ln/>
        </p:spPr>
        <p:txBody>
          <a:bodyPr wrap="none" lIns="0" tIns="0" rIns="0" bIns="0" rtlCol="0" anchor="t"/>
          <a:lstStyle/>
          <a:p>
            <a:pPr algn="l" indent="0" marL="0">
              <a:lnSpc>
                <a:spcPct val="132000"/>
              </a:lnSpc>
              <a:buNone/>
            </a:pPr>
            <a:r>
              <a:rPr lang="en-US" sz="950" dirty="0">
                <a:solidFill>
                  <a:srgbClr val="5B5F71"/>
                </a:solidFill>
                <a:latin typeface="Instrument Sans Medium" pitchFamily="34" charset="0"/>
                <a:ea typeface="Instrument Sans Medium" pitchFamily="34" charset="-122"/>
                <a:cs typeface="Instrument Sans Medium" pitchFamily="34" charset="-120"/>
              </a:rPr>
              <a:t>Server-calculated amount</a:t>
            </a:r>
            <a:endParaRPr lang="en-US" sz="950" dirty="0"/>
          </a:p>
        </p:txBody>
      </p:sp>
      <p:sp>
        <p:nvSpPr>
          <p:cNvPr id="22" name="Text 20"/>
          <p:cNvSpPr/>
          <p:nvPr/>
        </p:nvSpPr>
        <p:spPr>
          <a:xfrm>
            <a:off x="4852467" y="3105745"/>
            <a:ext cx="2171849" cy="193849"/>
          </a:xfrm>
          <a:prstGeom prst="rect">
            <a:avLst/>
          </a:prstGeom>
          <a:noFill/>
          <a:ln/>
        </p:spPr>
        <p:txBody>
          <a:bodyPr wrap="none" lIns="0" tIns="0" rIns="0" bIns="0" rtlCol="0" anchor="t"/>
          <a:lstStyle/>
          <a:p>
            <a:pPr algn="l" indent="0" marL="0">
              <a:lnSpc>
                <a:spcPct val="132000"/>
              </a:lnSpc>
              <a:buNone/>
            </a:pPr>
            <a:r>
              <a:rPr lang="en-US" sz="950" dirty="0">
                <a:solidFill>
                  <a:srgbClr val="5B5F71"/>
                </a:solidFill>
                <a:latin typeface="Instrument Sans Medium" pitchFamily="34" charset="0"/>
                <a:ea typeface="Instrument Sans Medium" pitchFamily="34" charset="-122"/>
                <a:cs typeface="Instrument Sans Medium" pitchFamily="34" charset="-120"/>
              </a:rPr>
              <a:t>Difficult verification</a:t>
            </a:r>
            <a:endParaRPr lang="en-US" sz="950" dirty="0"/>
          </a:p>
        </p:txBody>
      </p:sp>
      <p:sp>
        <p:nvSpPr>
          <p:cNvPr id="23" name="Text 21"/>
          <p:cNvSpPr/>
          <p:nvPr/>
        </p:nvSpPr>
        <p:spPr>
          <a:xfrm>
            <a:off x="6811194" y="3105745"/>
            <a:ext cx="1714649" cy="387697"/>
          </a:xfrm>
          <a:prstGeom prst="rect">
            <a:avLst/>
          </a:prstGeom>
          <a:noFill/>
          <a:ln/>
        </p:spPr>
        <p:txBody>
          <a:bodyPr wrap="square" lIns="0" tIns="0" rIns="0" bIns="0" rtlCol="0" anchor="t">
            <a:normAutofit/>
          </a:bodyPr>
          <a:lstStyle/>
          <a:p>
            <a:pPr algn="l" indent="0" marL="0">
              <a:lnSpc>
                <a:spcPct val="132000"/>
              </a:lnSpc>
              <a:buNone/>
            </a:pPr>
            <a:r>
              <a:rPr lang="en-US" sz="950" dirty="0">
                <a:solidFill>
                  <a:srgbClr val="5B5F71"/>
                </a:solidFill>
                <a:latin typeface="Instrument Sans Medium" pitchFamily="34" charset="0"/>
                <a:ea typeface="Instrument Sans Medium" pitchFamily="34" charset="-122"/>
                <a:cs typeface="Instrument Sans Medium" pitchFamily="34" charset="-120"/>
              </a:rPr>
              <a:t>Receipt and member statement</a:t>
            </a:r>
            <a:endParaRPr lang="en-US" sz="950" dirty="0"/>
          </a:p>
        </p:txBody>
      </p:sp>
      <p:sp>
        <p:nvSpPr>
          <p:cNvPr id="24" name="Text 22"/>
          <p:cNvSpPr/>
          <p:nvPr/>
        </p:nvSpPr>
        <p:spPr>
          <a:xfrm>
            <a:off x="4852467" y="3651945"/>
            <a:ext cx="2171849" cy="193849"/>
          </a:xfrm>
          <a:prstGeom prst="rect">
            <a:avLst/>
          </a:prstGeom>
          <a:noFill/>
          <a:ln/>
        </p:spPr>
        <p:txBody>
          <a:bodyPr wrap="none" lIns="0" tIns="0" rIns="0" bIns="0" rtlCol="0" anchor="t"/>
          <a:lstStyle/>
          <a:p>
            <a:pPr algn="l" indent="0" marL="0">
              <a:lnSpc>
                <a:spcPct val="132000"/>
              </a:lnSpc>
              <a:buNone/>
            </a:pPr>
            <a:r>
              <a:rPr lang="en-US" sz="950" dirty="0">
                <a:solidFill>
                  <a:srgbClr val="5B5F71"/>
                </a:solidFill>
                <a:latin typeface="Instrument Sans Medium" pitchFamily="34" charset="0"/>
                <a:ea typeface="Instrument Sans Medium" pitchFamily="34" charset="-122"/>
                <a:cs typeface="Instrument Sans Medium" pitchFamily="34" charset="-120"/>
              </a:rPr>
              <a:t>Overwritten information</a:t>
            </a:r>
            <a:endParaRPr lang="en-US" sz="950" dirty="0"/>
          </a:p>
        </p:txBody>
      </p:sp>
      <p:sp>
        <p:nvSpPr>
          <p:cNvPr id="25" name="Text 23"/>
          <p:cNvSpPr/>
          <p:nvPr/>
        </p:nvSpPr>
        <p:spPr>
          <a:xfrm>
            <a:off x="6811194" y="3651945"/>
            <a:ext cx="2171849" cy="193849"/>
          </a:xfrm>
          <a:prstGeom prst="rect">
            <a:avLst/>
          </a:prstGeom>
          <a:noFill/>
          <a:ln/>
        </p:spPr>
        <p:txBody>
          <a:bodyPr wrap="none" lIns="0" tIns="0" rIns="0" bIns="0" rtlCol="0" anchor="t"/>
          <a:lstStyle/>
          <a:p>
            <a:pPr algn="l" indent="0" marL="0">
              <a:lnSpc>
                <a:spcPct val="132000"/>
              </a:lnSpc>
              <a:buNone/>
            </a:pPr>
            <a:r>
              <a:rPr lang="en-US" sz="950" dirty="0">
                <a:solidFill>
                  <a:srgbClr val="5B5F71"/>
                </a:solidFill>
                <a:latin typeface="Instrument Sans Medium" pitchFamily="34" charset="0"/>
                <a:ea typeface="Instrument Sans Medium" pitchFamily="34" charset="-122"/>
                <a:cs typeface="Instrument Sans Medium" pitchFamily="34" charset="-120"/>
              </a:rPr>
              <a:t>Complete change history</a:t>
            </a:r>
            <a:endParaRPr lang="en-US" sz="950" dirty="0"/>
          </a:p>
        </p:txBody>
      </p:sp>
      <p:sp>
        <p:nvSpPr>
          <p:cNvPr id="26" name="Text 24"/>
          <p:cNvSpPr/>
          <p:nvPr/>
        </p:nvSpPr>
        <p:spPr>
          <a:xfrm>
            <a:off x="4852467" y="4004295"/>
            <a:ext cx="2171849" cy="193849"/>
          </a:xfrm>
          <a:prstGeom prst="rect">
            <a:avLst/>
          </a:prstGeom>
          <a:noFill/>
          <a:ln/>
        </p:spPr>
        <p:txBody>
          <a:bodyPr wrap="none" lIns="0" tIns="0" rIns="0" bIns="0" rtlCol="0" anchor="t"/>
          <a:lstStyle/>
          <a:p>
            <a:pPr algn="l" indent="0" marL="0">
              <a:lnSpc>
                <a:spcPct val="132000"/>
              </a:lnSpc>
              <a:buNone/>
            </a:pPr>
            <a:r>
              <a:rPr lang="en-US" sz="950" dirty="0">
                <a:solidFill>
                  <a:srgbClr val="5B5F71"/>
                </a:solidFill>
                <a:latin typeface="Instrument Sans Medium" pitchFamily="34" charset="0"/>
                <a:ea typeface="Instrument Sans Medium" pitchFamily="34" charset="-122"/>
                <a:cs typeface="Instrument Sans Medium" pitchFamily="34" charset="-120"/>
              </a:rPr>
              <a:t>Manual record scanning</a:t>
            </a:r>
            <a:endParaRPr lang="en-US" sz="950" dirty="0"/>
          </a:p>
        </p:txBody>
      </p:sp>
      <p:sp>
        <p:nvSpPr>
          <p:cNvPr id="27" name="Text 25"/>
          <p:cNvSpPr/>
          <p:nvPr/>
        </p:nvSpPr>
        <p:spPr>
          <a:xfrm>
            <a:off x="6811194" y="4004295"/>
            <a:ext cx="2171849" cy="193849"/>
          </a:xfrm>
          <a:prstGeom prst="rect">
            <a:avLst/>
          </a:prstGeom>
          <a:noFill/>
          <a:ln/>
        </p:spPr>
        <p:txBody>
          <a:bodyPr wrap="none" lIns="0" tIns="0" rIns="0" bIns="0" rtlCol="0" anchor="t"/>
          <a:lstStyle/>
          <a:p>
            <a:pPr algn="l" indent="0" marL="0">
              <a:lnSpc>
                <a:spcPct val="132000"/>
              </a:lnSpc>
              <a:buNone/>
            </a:pPr>
            <a:r>
              <a:rPr lang="en-US" sz="950" dirty="0">
                <a:solidFill>
                  <a:srgbClr val="5B5F71"/>
                </a:solidFill>
                <a:latin typeface="Instrument Sans Medium" pitchFamily="34" charset="0"/>
                <a:ea typeface="Instrument Sans Medium" pitchFamily="34" charset="-122"/>
                <a:cs typeface="Instrument Sans Medium" pitchFamily="34" charset="-120"/>
              </a:rPr>
              <a:t>Attention-first queue</a:t>
            </a:r>
            <a:endParaRPr lang="en-US" sz="950" dirty="0"/>
          </a:p>
        </p:txBody>
      </p:sp>
      <p:sp>
        <p:nvSpPr>
          <p:cNvPr id="28" name="Text 26"/>
          <p:cNvSpPr/>
          <p:nvPr/>
        </p:nvSpPr>
        <p:spPr>
          <a:xfrm>
            <a:off x="4852467" y="4356646"/>
            <a:ext cx="2171849" cy="193849"/>
          </a:xfrm>
          <a:prstGeom prst="rect">
            <a:avLst/>
          </a:prstGeom>
          <a:noFill/>
          <a:ln/>
        </p:spPr>
        <p:txBody>
          <a:bodyPr wrap="none" lIns="0" tIns="0" rIns="0" bIns="0" rtlCol="0" anchor="t"/>
          <a:lstStyle/>
          <a:p>
            <a:pPr algn="l" indent="0" marL="0">
              <a:lnSpc>
                <a:spcPct val="132000"/>
              </a:lnSpc>
              <a:buNone/>
            </a:pPr>
            <a:r>
              <a:rPr lang="en-US" sz="950" dirty="0">
                <a:solidFill>
                  <a:srgbClr val="5B5F71"/>
                </a:solidFill>
                <a:latin typeface="Instrument Sans Medium" pitchFamily="34" charset="0"/>
                <a:ea typeface="Instrument Sans Medium" pitchFamily="34" charset="-122"/>
                <a:cs typeface="Instrument Sans Medium" pitchFamily="34" charset="-120"/>
              </a:rPr>
              <a:t>Unclear outstanding amount</a:t>
            </a:r>
            <a:endParaRPr lang="en-US" sz="950" dirty="0"/>
          </a:p>
        </p:txBody>
      </p:sp>
      <p:sp>
        <p:nvSpPr>
          <p:cNvPr id="29" name="Text 27"/>
          <p:cNvSpPr/>
          <p:nvPr/>
        </p:nvSpPr>
        <p:spPr>
          <a:xfrm>
            <a:off x="6811194" y="4356646"/>
            <a:ext cx="2171849" cy="193849"/>
          </a:xfrm>
          <a:prstGeom prst="rect">
            <a:avLst/>
          </a:prstGeom>
          <a:noFill/>
          <a:ln/>
        </p:spPr>
        <p:txBody>
          <a:bodyPr wrap="none" lIns="0" tIns="0" rIns="0" bIns="0" rtlCol="0" anchor="t"/>
          <a:lstStyle/>
          <a:p>
            <a:pPr algn="l" indent="0" marL="0">
              <a:lnSpc>
                <a:spcPct val="132000"/>
              </a:lnSpc>
              <a:buNone/>
            </a:pPr>
            <a:r>
              <a:rPr lang="en-US" sz="950" dirty="0">
                <a:solidFill>
                  <a:srgbClr val="5B5F71"/>
                </a:solidFill>
                <a:latin typeface="Instrument Sans Medium" pitchFamily="34" charset="0"/>
                <a:ea typeface="Instrument Sans Medium" pitchFamily="34" charset="-122"/>
                <a:cs typeface="Instrument Sans Medium" pitchFamily="34" charset="-120"/>
              </a:rPr>
              <a:t>Updated payment balance</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96119" y="631999"/>
            <a:ext cx="8151763" cy="387548"/>
          </a:xfrm>
          <a:prstGeom prst="rect">
            <a:avLst/>
          </a:prstGeom>
          <a:noFill/>
          <a:ln/>
        </p:spPr>
        <p:txBody>
          <a:bodyPr wrap="none" lIns="0" tIns="0" rIns="0" bIns="0" rtlCol="0" anchor="t"/>
          <a:lstStyle/>
          <a:p>
            <a:pPr algn="l" indent="0" marL="0">
              <a:lnSpc>
                <a:spcPct val="104000"/>
              </a:lnSpc>
              <a:buNone/>
            </a:pPr>
            <a:r>
              <a:rPr lang="en-US" sz="2400" dirty="0">
                <a:solidFill>
                  <a:srgbClr val="505468"/>
                </a:solidFill>
                <a:latin typeface="Instrument Sans SemiBold" pitchFamily="34" charset="0"/>
                <a:ea typeface="Instrument Sans SemiBold" pitchFamily="34" charset="-122"/>
                <a:cs typeface="Instrument Sans SemiBold" pitchFamily="34" charset="-120"/>
              </a:rPr>
              <a:t>Simple, Reliable and Auditable Architecture</a:t>
            </a:r>
            <a:endParaRPr lang="en-US" sz="2400" dirty="0"/>
          </a:p>
        </p:txBody>
      </p:sp>
      <p:sp>
        <p:nvSpPr>
          <p:cNvPr id="3" name="Text 1"/>
          <p:cNvSpPr/>
          <p:nvPr/>
        </p:nvSpPr>
        <p:spPr>
          <a:xfrm>
            <a:off x="496119" y="1069107"/>
            <a:ext cx="8151763" cy="193849"/>
          </a:xfrm>
          <a:prstGeom prst="rect">
            <a:avLst/>
          </a:prstGeom>
          <a:noFill/>
          <a:ln/>
        </p:spPr>
        <p:txBody>
          <a:bodyPr wrap="none" lIns="0" tIns="0" rIns="0" bIns="0" rtlCol="0" anchor="t"/>
          <a:lstStyle/>
          <a:p>
            <a:pPr algn="l" indent="0" marL="0">
              <a:lnSpc>
                <a:spcPct val="104000"/>
              </a:lnSpc>
              <a:buNone/>
            </a:pPr>
            <a:r>
              <a:rPr lang="en-US" sz="1200" dirty="0">
                <a:solidFill>
                  <a:srgbClr val="505468"/>
                </a:solidFill>
                <a:latin typeface="Instrument Sans SemiBold" pitchFamily="34" charset="0"/>
                <a:ea typeface="Instrument Sans SemiBold" pitchFamily="34" charset="-122"/>
                <a:cs typeface="Instrument Sans SemiBold" pitchFamily="34" charset="-120"/>
              </a:rPr>
              <a:t>Technology Stack by Layer</a:t>
            </a:r>
            <a:endParaRPr lang="en-US" sz="1200" dirty="0"/>
          </a:p>
        </p:txBody>
      </p:sp>
      <p:sp>
        <p:nvSpPr>
          <p:cNvPr id="4" name="Shape 2"/>
          <p:cNvSpPr/>
          <p:nvPr/>
        </p:nvSpPr>
        <p:spPr>
          <a:xfrm>
            <a:off x="496119" y="1448991"/>
            <a:ext cx="8151763" cy="3062511"/>
          </a:xfrm>
          <a:prstGeom prst="roundRect">
            <a:avLst>
              <a:gd name="adj" fmla="val 1701"/>
            </a:avLst>
          </a:prstGeom>
          <a:noFill/>
          <a:ln w="4763">
            <a:solidFill>
              <a:srgbClr val="000000">
                <a:alpha val="8000"/>
              </a:srgbClr>
            </a:solidFill>
            <a:prstDash val="solid"/>
          </a:ln>
        </p:spPr>
      </p:sp>
      <p:sp>
        <p:nvSpPr>
          <p:cNvPr id="5" name="Shape 3"/>
          <p:cNvSpPr/>
          <p:nvPr/>
        </p:nvSpPr>
        <p:spPr>
          <a:xfrm>
            <a:off x="500881" y="1453753"/>
            <a:ext cx="8142238" cy="356815"/>
          </a:xfrm>
          <a:prstGeom prst="rect">
            <a:avLst/>
          </a:prstGeom>
          <a:solidFill>
            <a:srgbClr val="FFFFFF">
              <a:alpha val="4000"/>
            </a:srgbClr>
          </a:solidFill>
          <a:ln/>
        </p:spPr>
      </p:sp>
      <p:sp>
        <p:nvSpPr>
          <p:cNvPr id="6" name="Shape 4"/>
          <p:cNvSpPr/>
          <p:nvPr/>
        </p:nvSpPr>
        <p:spPr>
          <a:xfrm>
            <a:off x="500955" y="1453753"/>
            <a:ext cx="1465585" cy="356815"/>
          </a:xfrm>
          <a:prstGeom prst="rect">
            <a:avLst/>
          </a:prstGeom>
          <a:solidFill>
            <a:srgbClr val="505468"/>
          </a:solidFill>
          <a:ln/>
        </p:spPr>
      </p:sp>
      <p:sp>
        <p:nvSpPr>
          <p:cNvPr id="7" name="Text 5"/>
          <p:cNvSpPr/>
          <p:nvPr/>
        </p:nvSpPr>
        <p:spPr>
          <a:xfrm>
            <a:off x="624929" y="1532930"/>
            <a:ext cx="1672456" cy="198462"/>
          </a:xfrm>
          <a:prstGeom prst="rect">
            <a:avLst/>
          </a:prstGeom>
          <a:noFill/>
          <a:ln/>
        </p:spPr>
        <p:txBody>
          <a:bodyPr wrap="none" lIns="0" tIns="0" rIns="0" bIns="0" rtlCol="0" anchor="t"/>
          <a:lstStyle/>
          <a:p>
            <a:pPr algn="l" indent="0" marL="0">
              <a:lnSpc>
                <a:spcPct val="133000"/>
              </a:lnSpc>
              <a:buNone/>
            </a:pPr>
            <a:r>
              <a:rPr lang="en-US" sz="950" b="1" dirty="0">
                <a:solidFill>
                  <a:srgbClr val="FFFFFF"/>
                </a:solidFill>
                <a:latin typeface="Instrument Sans Bold" pitchFamily="34" charset="0"/>
                <a:ea typeface="Instrument Sans Bold" pitchFamily="34" charset="-122"/>
                <a:cs typeface="Instrument Sans Bold" pitchFamily="34" charset="-120"/>
              </a:rPr>
              <a:t>Layer</a:t>
            </a:r>
            <a:endParaRPr lang="en-US" sz="950" dirty="0"/>
          </a:p>
        </p:txBody>
      </p:sp>
      <p:sp>
        <p:nvSpPr>
          <p:cNvPr id="8" name="Shape 6"/>
          <p:cNvSpPr/>
          <p:nvPr/>
        </p:nvSpPr>
        <p:spPr>
          <a:xfrm>
            <a:off x="1966540" y="1453753"/>
            <a:ext cx="2035522" cy="356815"/>
          </a:xfrm>
          <a:prstGeom prst="rect">
            <a:avLst/>
          </a:prstGeom>
          <a:solidFill>
            <a:srgbClr val="505468"/>
          </a:solidFill>
          <a:ln/>
        </p:spPr>
      </p:sp>
      <p:sp>
        <p:nvSpPr>
          <p:cNvPr id="9" name="Text 7"/>
          <p:cNvSpPr/>
          <p:nvPr/>
        </p:nvSpPr>
        <p:spPr>
          <a:xfrm>
            <a:off x="2092896" y="1532930"/>
            <a:ext cx="2240012" cy="198462"/>
          </a:xfrm>
          <a:prstGeom prst="rect">
            <a:avLst/>
          </a:prstGeom>
          <a:noFill/>
          <a:ln/>
        </p:spPr>
        <p:txBody>
          <a:bodyPr wrap="none" lIns="0" tIns="0" rIns="0" bIns="0" rtlCol="0" anchor="t"/>
          <a:lstStyle/>
          <a:p>
            <a:pPr algn="l" indent="0" marL="0">
              <a:lnSpc>
                <a:spcPct val="133000"/>
              </a:lnSpc>
              <a:buNone/>
            </a:pPr>
            <a:r>
              <a:rPr lang="en-US" sz="950" b="1" dirty="0">
                <a:solidFill>
                  <a:srgbClr val="FFFFFF"/>
                </a:solidFill>
                <a:latin typeface="Instrument Sans Bold" pitchFamily="34" charset="0"/>
                <a:ea typeface="Instrument Sans Bold" pitchFamily="34" charset="-122"/>
                <a:cs typeface="Instrument Sans Bold" pitchFamily="34" charset="-120"/>
              </a:rPr>
              <a:t>Technology</a:t>
            </a:r>
            <a:endParaRPr lang="en-US" sz="950" dirty="0"/>
          </a:p>
        </p:txBody>
      </p:sp>
      <p:sp>
        <p:nvSpPr>
          <p:cNvPr id="10" name="Shape 8"/>
          <p:cNvSpPr/>
          <p:nvPr/>
        </p:nvSpPr>
        <p:spPr>
          <a:xfrm>
            <a:off x="4002063" y="1453753"/>
            <a:ext cx="4641056" cy="356815"/>
          </a:xfrm>
          <a:prstGeom prst="rect">
            <a:avLst/>
          </a:prstGeom>
          <a:solidFill>
            <a:srgbClr val="505468"/>
          </a:solidFill>
          <a:ln/>
        </p:spPr>
      </p:sp>
      <p:sp>
        <p:nvSpPr>
          <p:cNvPr id="11" name="Text 9"/>
          <p:cNvSpPr/>
          <p:nvPr/>
        </p:nvSpPr>
        <p:spPr>
          <a:xfrm>
            <a:off x="4128418" y="1532930"/>
            <a:ext cx="4847927" cy="198462"/>
          </a:xfrm>
          <a:prstGeom prst="rect">
            <a:avLst/>
          </a:prstGeom>
          <a:noFill/>
          <a:ln/>
        </p:spPr>
        <p:txBody>
          <a:bodyPr wrap="none" lIns="0" tIns="0" rIns="0" bIns="0" rtlCol="0" anchor="t"/>
          <a:lstStyle/>
          <a:p>
            <a:pPr algn="l" indent="0" marL="0">
              <a:lnSpc>
                <a:spcPct val="133000"/>
              </a:lnSpc>
              <a:buNone/>
            </a:pPr>
            <a:r>
              <a:rPr lang="en-US" sz="950" b="1" dirty="0">
                <a:solidFill>
                  <a:srgbClr val="FFFFFF"/>
                </a:solidFill>
                <a:latin typeface="Instrument Sans Bold" pitchFamily="34" charset="0"/>
                <a:ea typeface="Instrument Sans Bold" pitchFamily="34" charset="-122"/>
                <a:cs typeface="Instrument Sans Bold" pitchFamily="34" charset="-120"/>
              </a:rPr>
              <a:t>Responsibility</a:t>
            </a:r>
            <a:endParaRPr lang="en-US" sz="950" dirty="0"/>
          </a:p>
        </p:txBody>
      </p:sp>
      <p:sp>
        <p:nvSpPr>
          <p:cNvPr id="12" name="Shape 10"/>
          <p:cNvSpPr/>
          <p:nvPr/>
        </p:nvSpPr>
        <p:spPr>
          <a:xfrm>
            <a:off x="500881" y="1810569"/>
            <a:ext cx="8142238" cy="555278"/>
          </a:xfrm>
          <a:prstGeom prst="rect">
            <a:avLst/>
          </a:prstGeom>
          <a:solidFill>
            <a:srgbClr val="000000">
              <a:alpha val="4000"/>
            </a:srgbClr>
          </a:solidFill>
          <a:ln/>
        </p:spPr>
      </p:sp>
      <p:sp>
        <p:nvSpPr>
          <p:cNvPr id="13" name="Text 11"/>
          <p:cNvSpPr/>
          <p:nvPr/>
        </p:nvSpPr>
        <p:spPr>
          <a:xfrm>
            <a:off x="624929" y="1889745"/>
            <a:ext cx="1672456" cy="198462"/>
          </a:xfrm>
          <a:prstGeom prst="rect">
            <a:avLst/>
          </a:prstGeom>
          <a:noFill/>
          <a:ln/>
        </p:spPr>
        <p:txBody>
          <a:bodyPr wrap="none" lIns="0" tIns="0" rIns="0" bIns="0" rtlCol="0" anchor="t"/>
          <a:lstStyle/>
          <a:p>
            <a:pPr algn="l" indent="0" marL="0">
              <a:lnSpc>
                <a:spcPct val="133000"/>
              </a:lnSpc>
              <a:buNone/>
            </a:pPr>
            <a:r>
              <a:rPr lang="en-US" sz="950" dirty="0">
                <a:solidFill>
                  <a:srgbClr val="5B5F71"/>
                </a:solidFill>
                <a:latin typeface="Instrument Sans Medium" pitchFamily="34" charset="0"/>
                <a:ea typeface="Instrument Sans Medium" pitchFamily="34" charset="-122"/>
                <a:cs typeface="Instrument Sans Medium" pitchFamily="34" charset="-120"/>
              </a:rPr>
              <a:t>Frontend</a:t>
            </a:r>
            <a:endParaRPr lang="en-US" sz="950" dirty="0"/>
          </a:p>
        </p:txBody>
      </p:sp>
      <p:sp>
        <p:nvSpPr>
          <p:cNvPr id="14" name="Text 12"/>
          <p:cNvSpPr/>
          <p:nvPr/>
        </p:nvSpPr>
        <p:spPr>
          <a:xfrm>
            <a:off x="2092896" y="1889745"/>
            <a:ext cx="1782812" cy="396925"/>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5B5F71"/>
                </a:solidFill>
                <a:latin typeface="Instrument Sans Medium" pitchFamily="34" charset="0"/>
                <a:ea typeface="Instrument Sans Medium" pitchFamily="34" charset="-122"/>
                <a:cs typeface="Instrument Sans Medium" pitchFamily="34" charset="-120"/>
              </a:rPr>
              <a:t>React, TypeScript, Tailwind CSS</a:t>
            </a:r>
            <a:endParaRPr lang="en-US" sz="950" dirty="0"/>
          </a:p>
        </p:txBody>
      </p:sp>
      <p:sp>
        <p:nvSpPr>
          <p:cNvPr id="15" name="Text 13"/>
          <p:cNvSpPr/>
          <p:nvPr/>
        </p:nvSpPr>
        <p:spPr>
          <a:xfrm>
            <a:off x="4128418" y="1889745"/>
            <a:ext cx="4847927" cy="198462"/>
          </a:xfrm>
          <a:prstGeom prst="rect">
            <a:avLst/>
          </a:prstGeom>
          <a:noFill/>
          <a:ln/>
        </p:spPr>
        <p:txBody>
          <a:bodyPr wrap="none" lIns="0" tIns="0" rIns="0" bIns="0" rtlCol="0" anchor="t"/>
          <a:lstStyle/>
          <a:p>
            <a:pPr algn="l" indent="0" marL="0">
              <a:lnSpc>
                <a:spcPct val="133000"/>
              </a:lnSpc>
              <a:buNone/>
            </a:pPr>
            <a:r>
              <a:rPr lang="en-US" sz="950" dirty="0">
                <a:solidFill>
                  <a:srgbClr val="5B5F71"/>
                </a:solidFill>
                <a:latin typeface="Instrument Sans Medium" pitchFamily="34" charset="0"/>
                <a:ea typeface="Instrument Sans Medium" pitchFamily="34" charset="-122"/>
                <a:cs typeface="Instrument Sans Medium" pitchFamily="34" charset="-120"/>
              </a:rPr>
              <a:t>Responsive screens and user interactions</a:t>
            </a:r>
            <a:endParaRPr lang="en-US" sz="950" dirty="0"/>
          </a:p>
        </p:txBody>
      </p:sp>
      <p:sp>
        <p:nvSpPr>
          <p:cNvPr id="16" name="Shape 14"/>
          <p:cNvSpPr/>
          <p:nvPr/>
        </p:nvSpPr>
        <p:spPr>
          <a:xfrm>
            <a:off x="500881" y="2365846"/>
            <a:ext cx="8142238" cy="356815"/>
          </a:xfrm>
          <a:prstGeom prst="rect">
            <a:avLst/>
          </a:prstGeom>
          <a:solidFill>
            <a:srgbClr val="FFFFFF">
              <a:alpha val="4000"/>
            </a:srgbClr>
          </a:solidFill>
          <a:ln/>
        </p:spPr>
      </p:sp>
      <p:sp>
        <p:nvSpPr>
          <p:cNvPr id="17" name="Text 15"/>
          <p:cNvSpPr/>
          <p:nvPr/>
        </p:nvSpPr>
        <p:spPr>
          <a:xfrm>
            <a:off x="624929" y="2445023"/>
            <a:ext cx="1672456" cy="198462"/>
          </a:xfrm>
          <a:prstGeom prst="rect">
            <a:avLst/>
          </a:prstGeom>
          <a:noFill/>
          <a:ln/>
        </p:spPr>
        <p:txBody>
          <a:bodyPr wrap="none" lIns="0" tIns="0" rIns="0" bIns="0" rtlCol="0" anchor="t"/>
          <a:lstStyle/>
          <a:p>
            <a:pPr algn="l" indent="0" marL="0">
              <a:lnSpc>
                <a:spcPct val="133000"/>
              </a:lnSpc>
              <a:buNone/>
            </a:pPr>
            <a:r>
              <a:rPr lang="en-US" sz="950" dirty="0">
                <a:solidFill>
                  <a:srgbClr val="5B5F71"/>
                </a:solidFill>
                <a:latin typeface="Instrument Sans Medium" pitchFamily="34" charset="0"/>
                <a:ea typeface="Instrument Sans Medium" pitchFamily="34" charset="-122"/>
                <a:cs typeface="Instrument Sans Medium" pitchFamily="34" charset="-120"/>
              </a:rPr>
              <a:t>Animation</a:t>
            </a:r>
            <a:endParaRPr lang="en-US" sz="950" dirty="0"/>
          </a:p>
        </p:txBody>
      </p:sp>
      <p:sp>
        <p:nvSpPr>
          <p:cNvPr id="18" name="Text 16"/>
          <p:cNvSpPr/>
          <p:nvPr/>
        </p:nvSpPr>
        <p:spPr>
          <a:xfrm>
            <a:off x="2092896" y="2445023"/>
            <a:ext cx="2240012" cy="198462"/>
          </a:xfrm>
          <a:prstGeom prst="rect">
            <a:avLst/>
          </a:prstGeom>
          <a:noFill/>
          <a:ln/>
        </p:spPr>
        <p:txBody>
          <a:bodyPr wrap="none" lIns="0" tIns="0" rIns="0" bIns="0" rtlCol="0" anchor="t"/>
          <a:lstStyle/>
          <a:p>
            <a:pPr algn="l" indent="0" marL="0">
              <a:lnSpc>
                <a:spcPct val="133000"/>
              </a:lnSpc>
              <a:buNone/>
            </a:pPr>
            <a:r>
              <a:rPr lang="en-US" sz="950" dirty="0">
                <a:solidFill>
                  <a:srgbClr val="5B5F71"/>
                </a:solidFill>
                <a:latin typeface="Instrument Sans Medium" pitchFamily="34" charset="0"/>
                <a:ea typeface="Instrument Sans Medium" pitchFamily="34" charset="-122"/>
                <a:cs typeface="Instrument Sans Medium" pitchFamily="34" charset="-120"/>
              </a:rPr>
              <a:t>Framer Motion</a:t>
            </a:r>
            <a:endParaRPr lang="en-US" sz="950" dirty="0"/>
          </a:p>
        </p:txBody>
      </p:sp>
      <p:sp>
        <p:nvSpPr>
          <p:cNvPr id="19" name="Text 17"/>
          <p:cNvSpPr/>
          <p:nvPr/>
        </p:nvSpPr>
        <p:spPr>
          <a:xfrm>
            <a:off x="4128418" y="2445023"/>
            <a:ext cx="4847927" cy="198462"/>
          </a:xfrm>
          <a:prstGeom prst="rect">
            <a:avLst/>
          </a:prstGeom>
          <a:noFill/>
          <a:ln/>
        </p:spPr>
        <p:txBody>
          <a:bodyPr wrap="none" lIns="0" tIns="0" rIns="0" bIns="0" rtlCol="0" anchor="t"/>
          <a:lstStyle/>
          <a:p>
            <a:pPr algn="l" indent="0" marL="0">
              <a:lnSpc>
                <a:spcPct val="133000"/>
              </a:lnSpc>
              <a:buNone/>
            </a:pPr>
            <a:r>
              <a:rPr lang="en-US" sz="950" dirty="0">
                <a:solidFill>
                  <a:srgbClr val="5B5F71"/>
                </a:solidFill>
                <a:latin typeface="Instrument Sans Medium" pitchFamily="34" charset="0"/>
                <a:ea typeface="Instrument Sans Medium" pitchFamily="34" charset="-122"/>
                <a:cs typeface="Instrument Sans Medium" pitchFamily="34" charset="-120"/>
              </a:rPr>
              <a:t>Page, card, receipt, and loading animations</a:t>
            </a:r>
            <a:endParaRPr lang="en-US" sz="950" dirty="0"/>
          </a:p>
        </p:txBody>
      </p:sp>
      <p:sp>
        <p:nvSpPr>
          <p:cNvPr id="20" name="Shape 18"/>
          <p:cNvSpPr/>
          <p:nvPr/>
        </p:nvSpPr>
        <p:spPr>
          <a:xfrm>
            <a:off x="500881" y="2722662"/>
            <a:ext cx="8142238" cy="356815"/>
          </a:xfrm>
          <a:prstGeom prst="rect">
            <a:avLst/>
          </a:prstGeom>
          <a:solidFill>
            <a:srgbClr val="000000">
              <a:alpha val="4000"/>
            </a:srgbClr>
          </a:solidFill>
          <a:ln/>
        </p:spPr>
      </p:sp>
      <p:sp>
        <p:nvSpPr>
          <p:cNvPr id="21" name="Text 19"/>
          <p:cNvSpPr/>
          <p:nvPr/>
        </p:nvSpPr>
        <p:spPr>
          <a:xfrm>
            <a:off x="624929" y="2801838"/>
            <a:ext cx="1672456" cy="198462"/>
          </a:xfrm>
          <a:prstGeom prst="rect">
            <a:avLst/>
          </a:prstGeom>
          <a:noFill/>
          <a:ln/>
        </p:spPr>
        <p:txBody>
          <a:bodyPr wrap="none" lIns="0" tIns="0" rIns="0" bIns="0" rtlCol="0" anchor="t"/>
          <a:lstStyle/>
          <a:p>
            <a:pPr algn="l" indent="0" marL="0">
              <a:lnSpc>
                <a:spcPct val="133000"/>
              </a:lnSpc>
              <a:buNone/>
            </a:pPr>
            <a:r>
              <a:rPr lang="en-US" sz="950" dirty="0">
                <a:solidFill>
                  <a:srgbClr val="5B5F71"/>
                </a:solidFill>
                <a:latin typeface="Instrument Sans Medium" pitchFamily="34" charset="0"/>
                <a:ea typeface="Instrument Sans Medium" pitchFamily="34" charset="-122"/>
                <a:cs typeface="Instrument Sans Medium" pitchFamily="34" charset="-120"/>
              </a:rPr>
              <a:t>Backend</a:t>
            </a:r>
            <a:endParaRPr lang="en-US" sz="950" dirty="0"/>
          </a:p>
        </p:txBody>
      </p:sp>
      <p:sp>
        <p:nvSpPr>
          <p:cNvPr id="22" name="Text 20"/>
          <p:cNvSpPr/>
          <p:nvPr/>
        </p:nvSpPr>
        <p:spPr>
          <a:xfrm>
            <a:off x="2092896" y="2801838"/>
            <a:ext cx="2240012" cy="198462"/>
          </a:xfrm>
          <a:prstGeom prst="rect">
            <a:avLst/>
          </a:prstGeom>
          <a:noFill/>
          <a:ln/>
        </p:spPr>
        <p:txBody>
          <a:bodyPr wrap="none" lIns="0" tIns="0" rIns="0" bIns="0" rtlCol="0" anchor="t"/>
          <a:lstStyle/>
          <a:p>
            <a:pPr algn="l" indent="0" marL="0">
              <a:lnSpc>
                <a:spcPct val="133000"/>
              </a:lnSpc>
              <a:buNone/>
            </a:pPr>
            <a:r>
              <a:rPr lang="en-US" sz="950" dirty="0">
                <a:solidFill>
                  <a:srgbClr val="5B5F71"/>
                </a:solidFill>
                <a:latin typeface="Instrument Sans Medium" pitchFamily="34" charset="0"/>
                <a:ea typeface="Instrument Sans Medium" pitchFamily="34" charset="-122"/>
                <a:cs typeface="Instrument Sans Medium" pitchFamily="34" charset="-120"/>
              </a:rPr>
              <a:t>Node.js, Express, TypeScript</a:t>
            </a:r>
            <a:endParaRPr lang="en-US" sz="950" dirty="0"/>
          </a:p>
        </p:txBody>
      </p:sp>
      <p:sp>
        <p:nvSpPr>
          <p:cNvPr id="23" name="Text 21"/>
          <p:cNvSpPr/>
          <p:nvPr/>
        </p:nvSpPr>
        <p:spPr>
          <a:xfrm>
            <a:off x="4128418" y="2801838"/>
            <a:ext cx="4847927" cy="198462"/>
          </a:xfrm>
          <a:prstGeom prst="rect">
            <a:avLst/>
          </a:prstGeom>
          <a:noFill/>
          <a:ln/>
        </p:spPr>
        <p:txBody>
          <a:bodyPr wrap="none" lIns="0" tIns="0" rIns="0" bIns="0" rtlCol="0" anchor="t"/>
          <a:lstStyle/>
          <a:p>
            <a:pPr algn="l" indent="0" marL="0">
              <a:lnSpc>
                <a:spcPct val="133000"/>
              </a:lnSpc>
              <a:buNone/>
            </a:pPr>
            <a:r>
              <a:rPr lang="en-US" sz="950" dirty="0">
                <a:solidFill>
                  <a:srgbClr val="5B5F71"/>
                </a:solidFill>
                <a:latin typeface="Instrument Sans Medium" pitchFamily="34" charset="0"/>
                <a:ea typeface="Instrument Sans Medium" pitchFamily="34" charset="-122"/>
                <a:cs typeface="Instrument Sans Medium" pitchFamily="34" charset="-120"/>
              </a:rPr>
              <a:t>Validation and business logic</a:t>
            </a:r>
            <a:endParaRPr lang="en-US" sz="950" dirty="0"/>
          </a:p>
        </p:txBody>
      </p:sp>
      <p:sp>
        <p:nvSpPr>
          <p:cNvPr id="24" name="Shape 22"/>
          <p:cNvSpPr/>
          <p:nvPr/>
        </p:nvSpPr>
        <p:spPr>
          <a:xfrm>
            <a:off x="500881" y="3079477"/>
            <a:ext cx="8142238" cy="356815"/>
          </a:xfrm>
          <a:prstGeom prst="rect">
            <a:avLst/>
          </a:prstGeom>
          <a:solidFill>
            <a:srgbClr val="FFFFFF">
              <a:alpha val="4000"/>
            </a:srgbClr>
          </a:solidFill>
          <a:ln/>
        </p:spPr>
      </p:sp>
      <p:sp>
        <p:nvSpPr>
          <p:cNvPr id="25" name="Text 23"/>
          <p:cNvSpPr/>
          <p:nvPr/>
        </p:nvSpPr>
        <p:spPr>
          <a:xfrm>
            <a:off x="624929" y="3158654"/>
            <a:ext cx="1672456" cy="198462"/>
          </a:xfrm>
          <a:prstGeom prst="rect">
            <a:avLst/>
          </a:prstGeom>
          <a:noFill/>
          <a:ln/>
        </p:spPr>
        <p:txBody>
          <a:bodyPr wrap="none" lIns="0" tIns="0" rIns="0" bIns="0" rtlCol="0" anchor="t"/>
          <a:lstStyle/>
          <a:p>
            <a:pPr algn="l" indent="0" marL="0">
              <a:lnSpc>
                <a:spcPct val="133000"/>
              </a:lnSpc>
              <a:buNone/>
            </a:pPr>
            <a:r>
              <a:rPr lang="en-US" sz="950" dirty="0">
                <a:solidFill>
                  <a:srgbClr val="5B5F71"/>
                </a:solidFill>
                <a:latin typeface="Instrument Sans Medium" pitchFamily="34" charset="0"/>
                <a:ea typeface="Instrument Sans Medium" pitchFamily="34" charset="-122"/>
                <a:cs typeface="Instrument Sans Medium" pitchFamily="34" charset="-120"/>
              </a:rPr>
              <a:t>Validation</a:t>
            </a:r>
            <a:endParaRPr lang="en-US" sz="950" dirty="0"/>
          </a:p>
        </p:txBody>
      </p:sp>
      <p:sp>
        <p:nvSpPr>
          <p:cNvPr id="26" name="Text 24"/>
          <p:cNvSpPr/>
          <p:nvPr/>
        </p:nvSpPr>
        <p:spPr>
          <a:xfrm>
            <a:off x="2092896" y="3158654"/>
            <a:ext cx="2240012" cy="198462"/>
          </a:xfrm>
          <a:prstGeom prst="rect">
            <a:avLst/>
          </a:prstGeom>
          <a:noFill/>
          <a:ln/>
        </p:spPr>
        <p:txBody>
          <a:bodyPr wrap="none" lIns="0" tIns="0" rIns="0" bIns="0" rtlCol="0" anchor="t"/>
          <a:lstStyle/>
          <a:p>
            <a:pPr algn="l" indent="0" marL="0">
              <a:lnSpc>
                <a:spcPct val="133000"/>
              </a:lnSpc>
              <a:buNone/>
            </a:pPr>
            <a:r>
              <a:rPr lang="en-US" sz="950" dirty="0">
                <a:solidFill>
                  <a:srgbClr val="5B5F71"/>
                </a:solidFill>
                <a:latin typeface="Instrument Sans Medium" pitchFamily="34" charset="0"/>
                <a:ea typeface="Instrument Sans Medium" pitchFamily="34" charset="-122"/>
                <a:cs typeface="Instrument Sans Medium" pitchFamily="34" charset="-120"/>
              </a:rPr>
              <a:t>Zod</a:t>
            </a:r>
            <a:endParaRPr lang="en-US" sz="950" dirty="0"/>
          </a:p>
        </p:txBody>
      </p:sp>
      <p:sp>
        <p:nvSpPr>
          <p:cNvPr id="27" name="Text 25"/>
          <p:cNvSpPr/>
          <p:nvPr/>
        </p:nvSpPr>
        <p:spPr>
          <a:xfrm>
            <a:off x="4128418" y="3158654"/>
            <a:ext cx="4847927" cy="198462"/>
          </a:xfrm>
          <a:prstGeom prst="rect">
            <a:avLst/>
          </a:prstGeom>
          <a:noFill/>
          <a:ln/>
        </p:spPr>
        <p:txBody>
          <a:bodyPr wrap="none" lIns="0" tIns="0" rIns="0" bIns="0" rtlCol="0" anchor="t"/>
          <a:lstStyle/>
          <a:p>
            <a:pPr algn="l" indent="0" marL="0">
              <a:lnSpc>
                <a:spcPct val="133000"/>
              </a:lnSpc>
              <a:buNone/>
            </a:pPr>
            <a:r>
              <a:rPr lang="en-US" sz="950" dirty="0">
                <a:solidFill>
                  <a:srgbClr val="5B5F71"/>
                </a:solidFill>
                <a:latin typeface="Instrument Sans Medium" pitchFamily="34" charset="0"/>
                <a:ea typeface="Instrument Sans Medium" pitchFamily="34" charset="-122"/>
                <a:cs typeface="Instrument Sans Medium" pitchFamily="34" charset="-120"/>
              </a:rPr>
              <a:t>Server-side field validation</a:t>
            </a:r>
            <a:endParaRPr lang="en-US" sz="950" dirty="0"/>
          </a:p>
        </p:txBody>
      </p:sp>
      <p:sp>
        <p:nvSpPr>
          <p:cNvPr id="28" name="Shape 26"/>
          <p:cNvSpPr/>
          <p:nvPr/>
        </p:nvSpPr>
        <p:spPr>
          <a:xfrm>
            <a:off x="500881" y="3436293"/>
            <a:ext cx="8142238" cy="356815"/>
          </a:xfrm>
          <a:prstGeom prst="rect">
            <a:avLst/>
          </a:prstGeom>
          <a:solidFill>
            <a:srgbClr val="000000">
              <a:alpha val="4000"/>
            </a:srgbClr>
          </a:solidFill>
          <a:ln/>
        </p:spPr>
      </p:sp>
      <p:sp>
        <p:nvSpPr>
          <p:cNvPr id="29" name="Text 27"/>
          <p:cNvSpPr/>
          <p:nvPr/>
        </p:nvSpPr>
        <p:spPr>
          <a:xfrm>
            <a:off x="624929" y="3515469"/>
            <a:ext cx="1672456" cy="198462"/>
          </a:xfrm>
          <a:prstGeom prst="rect">
            <a:avLst/>
          </a:prstGeom>
          <a:noFill/>
          <a:ln/>
        </p:spPr>
        <p:txBody>
          <a:bodyPr wrap="none" lIns="0" tIns="0" rIns="0" bIns="0" rtlCol="0" anchor="t"/>
          <a:lstStyle/>
          <a:p>
            <a:pPr algn="l" indent="0" marL="0">
              <a:lnSpc>
                <a:spcPct val="133000"/>
              </a:lnSpc>
              <a:buNone/>
            </a:pPr>
            <a:r>
              <a:rPr lang="en-US" sz="950" dirty="0">
                <a:solidFill>
                  <a:srgbClr val="5B5F71"/>
                </a:solidFill>
                <a:latin typeface="Instrument Sans Medium" pitchFamily="34" charset="0"/>
                <a:ea typeface="Instrument Sans Medium" pitchFamily="34" charset="-122"/>
                <a:cs typeface="Instrument Sans Medium" pitchFamily="34" charset="-120"/>
              </a:rPr>
              <a:t>Database</a:t>
            </a:r>
            <a:endParaRPr lang="en-US" sz="950" dirty="0"/>
          </a:p>
        </p:txBody>
      </p:sp>
      <p:sp>
        <p:nvSpPr>
          <p:cNvPr id="30" name="Text 28"/>
          <p:cNvSpPr/>
          <p:nvPr/>
        </p:nvSpPr>
        <p:spPr>
          <a:xfrm>
            <a:off x="2092896" y="3515469"/>
            <a:ext cx="2240012" cy="198462"/>
          </a:xfrm>
          <a:prstGeom prst="rect">
            <a:avLst/>
          </a:prstGeom>
          <a:noFill/>
          <a:ln/>
        </p:spPr>
        <p:txBody>
          <a:bodyPr wrap="none" lIns="0" tIns="0" rIns="0" bIns="0" rtlCol="0" anchor="t"/>
          <a:lstStyle/>
          <a:p>
            <a:pPr algn="l" indent="0" marL="0">
              <a:lnSpc>
                <a:spcPct val="133000"/>
              </a:lnSpc>
              <a:buNone/>
            </a:pPr>
            <a:r>
              <a:rPr lang="en-US" sz="950" dirty="0">
                <a:solidFill>
                  <a:srgbClr val="5B5F71"/>
                </a:solidFill>
                <a:latin typeface="Instrument Sans Medium" pitchFamily="34" charset="0"/>
                <a:ea typeface="Instrument Sans Medium" pitchFamily="34" charset="-122"/>
                <a:cs typeface="Instrument Sans Medium" pitchFamily="34" charset="-120"/>
              </a:rPr>
              <a:t>SQLite with Prisma ORM</a:t>
            </a:r>
            <a:endParaRPr lang="en-US" sz="950" dirty="0"/>
          </a:p>
        </p:txBody>
      </p:sp>
      <p:sp>
        <p:nvSpPr>
          <p:cNvPr id="31" name="Text 29"/>
          <p:cNvSpPr/>
          <p:nvPr/>
        </p:nvSpPr>
        <p:spPr>
          <a:xfrm>
            <a:off x="4128418" y="3515469"/>
            <a:ext cx="4847927" cy="198462"/>
          </a:xfrm>
          <a:prstGeom prst="rect">
            <a:avLst/>
          </a:prstGeom>
          <a:noFill/>
          <a:ln/>
        </p:spPr>
        <p:txBody>
          <a:bodyPr wrap="none" lIns="0" tIns="0" rIns="0" bIns="0" rtlCol="0" anchor="t"/>
          <a:lstStyle/>
          <a:p>
            <a:pPr algn="l" indent="0" marL="0">
              <a:lnSpc>
                <a:spcPct val="133000"/>
              </a:lnSpc>
              <a:buNone/>
            </a:pPr>
            <a:r>
              <a:rPr lang="en-US" sz="950" dirty="0">
                <a:solidFill>
                  <a:srgbClr val="5B5F71"/>
                </a:solidFill>
                <a:latin typeface="Instrument Sans Medium" pitchFamily="34" charset="0"/>
                <a:ea typeface="Instrument Sans Medium" pitchFamily="34" charset="-122"/>
                <a:cs typeface="Instrument Sans Medium" pitchFamily="34" charset="-120"/>
              </a:rPr>
              <a:t>Structured data, relationships, and history</a:t>
            </a:r>
            <a:endParaRPr lang="en-US" sz="950" dirty="0"/>
          </a:p>
        </p:txBody>
      </p:sp>
      <p:sp>
        <p:nvSpPr>
          <p:cNvPr id="32" name="Shape 30"/>
          <p:cNvSpPr/>
          <p:nvPr/>
        </p:nvSpPr>
        <p:spPr>
          <a:xfrm>
            <a:off x="500881" y="3793108"/>
            <a:ext cx="8142238" cy="356815"/>
          </a:xfrm>
          <a:prstGeom prst="rect">
            <a:avLst/>
          </a:prstGeom>
          <a:solidFill>
            <a:srgbClr val="FFFFFF">
              <a:alpha val="4000"/>
            </a:srgbClr>
          </a:solidFill>
          <a:ln/>
        </p:spPr>
      </p:sp>
      <p:sp>
        <p:nvSpPr>
          <p:cNvPr id="33" name="Text 31"/>
          <p:cNvSpPr/>
          <p:nvPr/>
        </p:nvSpPr>
        <p:spPr>
          <a:xfrm>
            <a:off x="624929" y="3872285"/>
            <a:ext cx="1672456" cy="198462"/>
          </a:xfrm>
          <a:prstGeom prst="rect">
            <a:avLst/>
          </a:prstGeom>
          <a:noFill/>
          <a:ln/>
        </p:spPr>
        <p:txBody>
          <a:bodyPr wrap="none" lIns="0" tIns="0" rIns="0" bIns="0" rtlCol="0" anchor="t"/>
          <a:lstStyle/>
          <a:p>
            <a:pPr algn="l" indent="0" marL="0">
              <a:lnSpc>
                <a:spcPct val="133000"/>
              </a:lnSpc>
              <a:buNone/>
            </a:pPr>
            <a:r>
              <a:rPr lang="en-US" sz="950" dirty="0">
                <a:solidFill>
                  <a:srgbClr val="5B5F71"/>
                </a:solidFill>
                <a:latin typeface="Instrument Sans Medium" pitchFamily="34" charset="0"/>
                <a:ea typeface="Instrument Sans Medium" pitchFamily="34" charset="-122"/>
                <a:cs typeface="Instrument Sans Medium" pitchFamily="34" charset="-120"/>
              </a:rPr>
              <a:t>Prediction</a:t>
            </a:r>
            <a:endParaRPr lang="en-US" sz="950" dirty="0"/>
          </a:p>
        </p:txBody>
      </p:sp>
      <p:sp>
        <p:nvSpPr>
          <p:cNvPr id="34" name="Text 32"/>
          <p:cNvSpPr/>
          <p:nvPr/>
        </p:nvSpPr>
        <p:spPr>
          <a:xfrm>
            <a:off x="2092896" y="3872285"/>
            <a:ext cx="2240012" cy="198462"/>
          </a:xfrm>
          <a:prstGeom prst="rect">
            <a:avLst/>
          </a:prstGeom>
          <a:noFill/>
          <a:ln/>
        </p:spPr>
        <p:txBody>
          <a:bodyPr wrap="none" lIns="0" tIns="0" rIns="0" bIns="0" rtlCol="0" anchor="t"/>
          <a:lstStyle/>
          <a:p>
            <a:pPr algn="l" indent="0" marL="0">
              <a:lnSpc>
                <a:spcPct val="133000"/>
              </a:lnSpc>
              <a:buNone/>
            </a:pPr>
            <a:r>
              <a:rPr lang="en-US" sz="950" dirty="0">
                <a:solidFill>
                  <a:srgbClr val="5B5F71"/>
                </a:solidFill>
                <a:latin typeface="Instrument Sans Medium" pitchFamily="34" charset="0"/>
                <a:ea typeface="Instrument Sans Medium" pitchFamily="34" charset="-122"/>
                <a:cs typeface="Instrument Sans Medium" pitchFamily="34" charset="-120"/>
              </a:rPr>
              <a:t>Python and scikit-learn</a:t>
            </a:r>
            <a:endParaRPr lang="en-US" sz="950" dirty="0"/>
          </a:p>
        </p:txBody>
      </p:sp>
      <p:sp>
        <p:nvSpPr>
          <p:cNvPr id="35" name="Text 33"/>
          <p:cNvSpPr/>
          <p:nvPr/>
        </p:nvSpPr>
        <p:spPr>
          <a:xfrm>
            <a:off x="4128418" y="3872285"/>
            <a:ext cx="4847927" cy="198462"/>
          </a:xfrm>
          <a:prstGeom prst="rect">
            <a:avLst/>
          </a:prstGeom>
          <a:noFill/>
          <a:ln/>
        </p:spPr>
        <p:txBody>
          <a:bodyPr wrap="none" lIns="0" tIns="0" rIns="0" bIns="0" rtlCol="0" anchor="t"/>
          <a:lstStyle/>
          <a:p>
            <a:pPr algn="l" indent="0" marL="0">
              <a:lnSpc>
                <a:spcPct val="133000"/>
              </a:lnSpc>
              <a:buNone/>
            </a:pPr>
            <a:r>
              <a:rPr lang="en-US" sz="950" dirty="0">
                <a:solidFill>
                  <a:srgbClr val="5B5F71"/>
                </a:solidFill>
                <a:latin typeface="Instrument Sans Medium" pitchFamily="34" charset="0"/>
                <a:ea typeface="Instrument Sans Medium" pitchFamily="34" charset="-122"/>
                <a:cs typeface="Instrument Sans Medium" pitchFamily="34" charset="-120"/>
              </a:rPr>
              <a:t>Attention-risk classification</a:t>
            </a:r>
            <a:endParaRPr lang="en-US" sz="950" dirty="0"/>
          </a:p>
        </p:txBody>
      </p:sp>
      <p:sp>
        <p:nvSpPr>
          <p:cNvPr id="36" name="Shape 34"/>
          <p:cNvSpPr/>
          <p:nvPr/>
        </p:nvSpPr>
        <p:spPr>
          <a:xfrm>
            <a:off x="500881" y="4149923"/>
            <a:ext cx="8142238" cy="356815"/>
          </a:xfrm>
          <a:prstGeom prst="rect">
            <a:avLst/>
          </a:prstGeom>
          <a:solidFill>
            <a:srgbClr val="000000">
              <a:alpha val="4000"/>
            </a:srgbClr>
          </a:solidFill>
          <a:ln/>
        </p:spPr>
      </p:sp>
      <p:sp>
        <p:nvSpPr>
          <p:cNvPr id="37" name="Text 35"/>
          <p:cNvSpPr/>
          <p:nvPr/>
        </p:nvSpPr>
        <p:spPr>
          <a:xfrm>
            <a:off x="624929" y="4229100"/>
            <a:ext cx="1672456" cy="198462"/>
          </a:xfrm>
          <a:prstGeom prst="rect">
            <a:avLst/>
          </a:prstGeom>
          <a:noFill/>
          <a:ln/>
        </p:spPr>
        <p:txBody>
          <a:bodyPr wrap="none" lIns="0" tIns="0" rIns="0" bIns="0" rtlCol="0" anchor="t"/>
          <a:lstStyle/>
          <a:p>
            <a:pPr algn="l" indent="0" marL="0">
              <a:lnSpc>
                <a:spcPct val="133000"/>
              </a:lnSpc>
              <a:buNone/>
            </a:pPr>
            <a:r>
              <a:rPr lang="en-US" sz="950" dirty="0">
                <a:solidFill>
                  <a:srgbClr val="5B5F71"/>
                </a:solidFill>
                <a:latin typeface="Instrument Sans Medium" pitchFamily="34" charset="0"/>
                <a:ea typeface="Instrument Sans Medium" pitchFamily="34" charset="-122"/>
                <a:cs typeface="Instrument Sans Medium" pitchFamily="34" charset="-120"/>
              </a:rPr>
              <a:t>Testing</a:t>
            </a:r>
            <a:endParaRPr lang="en-US" sz="950" dirty="0"/>
          </a:p>
        </p:txBody>
      </p:sp>
      <p:sp>
        <p:nvSpPr>
          <p:cNvPr id="38" name="Text 36"/>
          <p:cNvSpPr/>
          <p:nvPr/>
        </p:nvSpPr>
        <p:spPr>
          <a:xfrm>
            <a:off x="2092896" y="4229100"/>
            <a:ext cx="2240012" cy="198462"/>
          </a:xfrm>
          <a:prstGeom prst="rect">
            <a:avLst/>
          </a:prstGeom>
          <a:noFill/>
          <a:ln/>
        </p:spPr>
        <p:txBody>
          <a:bodyPr wrap="none" lIns="0" tIns="0" rIns="0" bIns="0" rtlCol="0" anchor="t"/>
          <a:lstStyle/>
          <a:p>
            <a:pPr algn="l" indent="0" marL="0">
              <a:lnSpc>
                <a:spcPct val="133000"/>
              </a:lnSpc>
              <a:buNone/>
            </a:pPr>
            <a:r>
              <a:rPr lang="en-US" sz="950" dirty="0">
                <a:solidFill>
                  <a:srgbClr val="5B5F71"/>
                </a:solidFill>
                <a:latin typeface="Instrument Sans Medium" pitchFamily="34" charset="0"/>
                <a:ea typeface="Instrument Sans Medium" pitchFamily="34" charset="-122"/>
                <a:cs typeface="Instrument Sans Medium" pitchFamily="34" charset="-120"/>
              </a:rPr>
              <a:t>Vitest, Supertest, Pytest</a:t>
            </a:r>
            <a:endParaRPr lang="en-US" sz="950" dirty="0"/>
          </a:p>
        </p:txBody>
      </p:sp>
      <p:sp>
        <p:nvSpPr>
          <p:cNvPr id="39" name="Text 37"/>
          <p:cNvSpPr/>
          <p:nvPr/>
        </p:nvSpPr>
        <p:spPr>
          <a:xfrm>
            <a:off x="4128418" y="4229100"/>
            <a:ext cx="4847927" cy="198462"/>
          </a:xfrm>
          <a:prstGeom prst="rect">
            <a:avLst/>
          </a:prstGeom>
          <a:noFill/>
          <a:ln/>
        </p:spPr>
        <p:txBody>
          <a:bodyPr wrap="none" lIns="0" tIns="0" rIns="0" bIns="0" rtlCol="0" anchor="t"/>
          <a:lstStyle/>
          <a:p>
            <a:pPr algn="l" indent="0" marL="0">
              <a:lnSpc>
                <a:spcPct val="133000"/>
              </a:lnSpc>
              <a:buNone/>
            </a:pPr>
            <a:r>
              <a:rPr lang="en-US" sz="950" dirty="0">
                <a:solidFill>
                  <a:srgbClr val="5B5F71"/>
                </a:solidFill>
                <a:latin typeface="Instrument Sans Medium" pitchFamily="34" charset="0"/>
                <a:ea typeface="Instrument Sans Medium" pitchFamily="34" charset="-122"/>
                <a:cs typeface="Instrument Sans Medium" pitchFamily="34" charset="-120"/>
              </a:rPr>
              <a:t>UI, API, database, and model verification</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96119" y="952277"/>
            <a:ext cx="8151763" cy="387548"/>
          </a:xfrm>
          <a:prstGeom prst="rect">
            <a:avLst/>
          </a:prstGeom>
          <a:noFill/>
          <a:ln/>
        </p:spPr>
        <p:txBody>
          <a:bodyPr wrap="none" lIns="0" tIns="0" rIns="0" bIns="0" rtlCol="0" anchor="t"/>
          <a:lstStyle/>
          <a:p>
            <a:pPr algn="l" indent="0" marL="0">
              <a:lnSpc>
                <a:spcPct val="104000"/>
              </a:lnSpc>
              <a:buNone/>
            </a:pPr>
            <a:r>
              <a:rPr lang="en-US" sz="2400" dirty="0">
                <a:solidFill>
                  <a:srgbClr val="505468"/>
                </a:solidFill>
                <a:latin typeface="Instrument Sans SemiBold" pitchFamily="34" charset="0"/>
                <a:ea typeface="Instrument Sans SemiBold" pitchFamily="34" charset="-122"/>
                <a:cs typeface="Instrument Sans SemiBold" pitchFamily="34" charset="-120"/>
              </a:rPr>
              <a:t>Important Technical Decisions</a:t>
            </a:r>
            <a:endParaRPr lang="en-US" sz="2400" dirty="0"/>
          </a:p>
        </p:txBody>
      </p:sp>
      <p:sp>
        <p:nvSpPr>
          <p:cNvPr id="3" name="Text 1"/>
          <p:cNvSpPr/>
          <p:nvPr/>
        </p:nvSpPr>
        <p:spPr>
          <a:xfrm>
            <a:off x="496119" y="1649834"/>
            <a:ext cx="3924598" cy="193849"/>
          </a:xfrm>
          <a:prstGeom prst="rect">
            <a:avLst/>
          </a:prstGeom>
          <a:noFill/>
          <a:ln/>
        </p:spPr>
        <p:txBody>
          <a:bodyPr wrap="none" lIns="0" tIns="0" rIns="0" bIns="0" rtlCol="0" anchor="t"/>
          <a:lstStyle/>
          <a:p>
            <a:pPr algn="l" indent="0" marL="0">
              <a:lnSpc>
                <a:spcPct val="104000"/>
              </a:lnSpc>
              <a:buNone/>
            </a:pPr>
            <a:r>
              <a:rPr lang="en-US" sz="1200" dirty="0">
                <a:solidFill>
                  <a:srgbClr val="505468"/>
                </a:solidFill>
                <a:latin typeface="Instrument Sans SemiBold" pitchFamily="34" charset="0"/>
                <a:ea typeface="Instrument Sans SemiBold" pitchFamily="34" charset="-122"/>
                <a:cs typeface="Instrument Sans SemiBold" pitchFamily="34" charset="-120"/>
              </a:rPr>
              <a:t>Design Principles</a:t>
            </a:r>
            <a:endParaRPr lang="en-US" sz="1200" dirty="0"/>
          </a:p>
        </p:txBody>
      </p:sp>
      <p:sp>
        <p:nvSpPr>
          <p:cNvPr id="4" name="Text 2"/>
          <p:cNvSpPr/>
          <p:nvPr/>
        </p:nvSpPr>
        <p:spPr>
          <a:xfrm>
            <a:off x="496119" y="1967657"/>
            <a:ext cx="3924598" cy="2003078"/>
          </a:xfrm>
          <a:prstGeom prst="rect">
            <a:avLst/>
          </a:prstGeom>
          <a:noFill/>
          <a:ln/>
        </p:spPr>
        <p:txBody>
          <a:bodyPr wrap="square" lIns="0" tIns="0" rIns="0" bIns="0" rtlCol="0" anchor="t">
            <a:normAutofit/>
          </a:bodyPr>
          <a:lstStyle/>
          <a:p>
            <a:pPr algn="l" marL="193040" indent="-193040">
              <a:lnSpc>
                <a:spcPct val="133000"/>
              </a:lnSpc>
              <a:buSzPct val="100000"/>
              <a:buChar char="•"/>
            </a:pPr>
            <a:r>
              <a:rPr lang="en-US" sz="950" dirty="0">
                <a:solidFill>
                  <a:srgbClr val="5B5F71"/>
                </a:solidFill>
                <a:latin typeface="Instrument Sans Medium" pitchFamily="34" charset="0"/>
                <a:ea typeface="Instrument Sans Medium" pitchFamily="34" charset="-122"/>
                <a:cs typeface="Instrument Sans Medium" pitchFamily="34" charset="-120"/>
              </a:rPr>
              <a:t>All important fields are validated on the server</a:t>
            </a:r>
            <a:endParaRPr lang="en-US" sz="950" dirty="0"/>
          </a:p>
          <a:p>
            <a:pPr algn="l" marL="193040" indent="-193040">
              <a:lnSpc>
                <a:spcPct val="133000"/>
              </a:lnSpc>
              <a:buSzPct val="100000"/>
              <a:buChar char="•"/>
            </a:pPr>
            <a:r>
              <a:rPr lang="en-US" sz="950" dirty="0">
                <a:solidFill>
                  <a:srgbClr val="5B5F71"/>
                </a:solidFill>
                <a:latin typeface="Instrument Sans Medium" pitchFamily="34" charset="0"/>
                <a:ea typeface="Instrument Sans Medium" pitchFamily="34" charset="-122"/>
                <a:cs typeface="Instrument Sans Medium" pitchFamily="34" charset="-120"/>
              </a:rPr>
              <a:t>Amount is calculated on the backend — not trusted from the browser</a:t>
            </a:r>
            <a:endParaRPr lang="en-US" sz="950" dirty="0"/>
          </a:p>
          <a:p>
            <a:pPr algn="l" marL="193040" indent="-193040">
              <a:lnSpc>
                <a:spcPct val="133000"/>
              </a:lnSpc>
              <a:buSzPct val="100000"/>
              <a:buChar char="•"/>
            </a:pPr>
            <a:r>
              <a:rPr lang="en-US" sz="950" dirty="0">
                <a:solidFill>
                  <a:srgbClr val="5B5F71"/>
                </a:solidFill>
                <a:latin typeface="Instrument Sans Medium" pitchFamily="34" charset="0"/>
                <a:ea typeface="Instrument Sans Medium" pitchFamily="34" charset="-122"/>
                <a:cs typeface="Instrument Sans Medium" pitchFamily="34" charset="-120"/>
              </a:rPr>
              <a:t>Delivery, history, prediction, and audit data are saved in one transaction</a:t>
            </a:r>
            <a:endParaRPr lang="en-US" sz="950" dirty="0"/>
          </a:p>
          <a:p>
            <a:pPr algn="l" marL="193040" indent="-193040">
              <a:lnSpc>
                <a:spcPct val="133000"/>
              </a:lnSpc>
              <a:buSzPct val="100000"/>
              <a:buChar char="•"/>
            </a:pPr>
            <a:r>
              <a:rPr lang="en-US" sz="950" dirty="0">
                <a:solidFill>
                  <a:srgbClr val="5B5F71"/>
                </a:solidFill>
                <a:latin typeface="Instrument Sans Medium" pitchFamily="34" charset="0"/>
                <a:ea typeface="Instrument Sans Medium" pitchFamily="34" charset="-122"/>
                <a:cs typeface="Instrument Sans Medium" pitchFamily="34" charset="-120"/>
              </a:rPr>
              <a:t>Rate and status changes are stored in history tables</a:t>
            </a:r>
            <a:endParaRPr lang="en-US" sz="950" dirty="0"/>
          </a:p>
          <a:p>
            <a:pPr algn="l" marL="193040" indent="-193040">
              <a:lnSpc>
                <a:spcPct val="133000"/>
              </a:lnSpc>
              <a:buSzPct val="100000"/>
              <a:buChar char="•"/>
            </a:pPr>
            <a:r>
              <a:rPr lang="en-US" sz="950" dirty="0">
                <a:solidFill>
                  <a:srgbClr val="5B5F71"/>
                </a:solidFill>
                <a:latin typeface="Instrument Sans Medium" pitchFamily="34" charset="0"/>
                <a:ea typeface="Instrument Sans Medium" pitchFamily="34" charset="-122"/>
                <a:cs typeface="Instrument Sans Medium" pitchFamily="34" charset="-120"/>
              </a:rPr>
              <a:t>Fixed-precision decimal values are used for money and quantity</a:t>
            </a:r>
            <a:endParaRPr lang="en-US" sz="950" dirty="0"/>
          </a:p>
          <a:p>
            <a:pPr algn="l" marL="193040" indent="-193040">
              <a:lnSpc>
                <a:spcPct val="133000"/>
              </a:lnSpc>
              <a:buSzPct val="100000"/>
              <a:buChar char="•"/>
            </a:pPr>
            <a:r>
              <a:rPr lang="en-US" sz="950" dirty="0">
                <a:solidFill>
                  <a:srgbClr val="5B5F71"/>
                </a:solidFill>
                <a:latin typeface="Instrument Sans Medium" pitchFamily="34" charset="0"/>
                <a:ea typeface="Instrument Sans Medium" pitchFamily="34" charset="-122"/>
                <a:cs typeface="Instrument Sans Medium" pitchFamily="34" charset="-120"/>
              </a:rPr>
              <a:t>The ML service can fail without preventing a valid collection from being saved</a:t>
            </a:r>
            <a:endParaRPr lang="en-US" sz="950" dirty="0"/>
          </a:p>
        </p:txBody>
      </p:sp>
      <p:sp>
        <p:nvSpPr>
          <p:cNvPr id="5" name="Text 3"/>
          <p:cNvSpPr/>
          <p:nvPr/>
        </p:nvSpPr>
        <p:spPr>
          <a:xfrm>
            <a:off x="4728046" y="1649834"/>
            <a:ext cx="3924598" cy="193849"/>
          </a:xfrm>
          <a:prstGeom prst="rect">
            <a:avLst/>
          </a:prstGeom>
          <a:noFill/>
          <a:ln/>
        </p:spPr>
        <p:txBody>
          <a:bodyPr wrap="none" lIns="0" tIns="0" rIns="0" bIns="0" rtlCol="0" anchor="t"/>
          <a:lstStyle/>
          <a:p>
            <a:pPr algn="l" indent="0" marL="0">
              <a:lnSpc>
                <a:spcPct val="104000"/>
              </a:lnSpc>
              <a:buNone/>
            </a:pPr>
            <a:r>
              <a:rPr lang="en-US" sz="1200" dirty="0">
                <a:solidFill>
                  <a:srgbClr val="505468"/>
                </a:solidFill>
                <a:latin typeface="Instrument Sans SemiBold" pitchFamily="34" charset="0"/>
                <a:ea typeface="Instrument Sans SemiBold" pitchFamily="34" charset="-122"/>
                <a:cs typeface="Instrument Sans SemiBold" pitchFamily="34" charset="-120"/>
              </a:rPr>
              <a:t>Main Database Entities</a:t>
            </a:r>
            <a:endParaRPr lang="en-US" sz="1200" dirty="0"/>
          </a:p>
        </p:txBody>
      </p:sp>
      <p:sp>
        <p:nvSpPr>
          <p:cNvPr id="6" name="Shape 4"/>
          <p:cNvSpPr/>
          <p:nvPr/>
        </p:nvSpPr>
        <p:spPr>
          <a:xfrm>
            <a:off x="4728046" y="1983209"/>
            <a:ext cx="1900312" cy="972220"/>
          </a:xfrm>
          <a:prstGeom prst="roundRect">
            <a:avLst>
              <a:gd name="adj" fmla="val 5359"/>
            </a:avLst>
          </a:prstGeom>
          <a:solidFill>
            <a:srgbClr val="E2E3E9"/>
          </a:solidFill>
          <a:ln w="4763">
            <a:solidFill>
              <a:srgbClr val="C8C9CF"/>
            </a:solidFill>
            <a:prstDash val="solid"/>
          </a:ln>
        </p:spPr>
      </p:sp>
      <p:sp>
        <p:nvSpPr>
          <p:cNvPr id="7" name="Text 5"/>
          <p:cNvSpPr/>
          <p:nvPr/>
        </p:nvSpPr>
        <p:spPr>
          <a:xfrm>
            <a:off x="4856783" y="2111946"/>
            <a:ext cx="1642839" cy="193849"/>
          </a:xfrm>
          <a:prstGeom prst="rect">
            <a:avLst/>
          </a:prstGeom>
          <a:noFill/>
          <a:ln/>
        </p:spPr>
        <p:txBody>
          <a:bodyPr wrap="none" lIns="0" tIns="0" rIns="0" bIns="0" rtlCol="0" anchor="t"/>
          <a:lstStyle/>
          <a:p>
            <a:pPr algn="l" indent="0" marL="0">
              <a:lnSpc>
                <a:spcPct val="104000"/>
              </a:lnSpc>
              <a:buNone/>
            </a:pPr>
            <a:r>
              <a:rPr lang="en-US" sz="1200" dirty="0">
                <a:solidFill>
                  <a:srgbClr val="5B5F71"/>
                </a:solidFill>
                <a:latin typeface="Instrument Sans SemiBold" pitchFamily="34" charset="0"/>
                <a:ea typeface="Instrument Sans SemiBold" pitchFamily="34" charset="-122"/>
                <a:cs typeface="Instrument Sans SemiBold" pitchFamily="34" charset="-120"/>
              </a:rPr>
              <a:t>Core</a:t>
            </a:r>
            <a:endParaRPr lang="en-US" sz="1200" dirty="0"/>
          </a:p>
        </p:txBody>
      </p:sp>
      <p:sp>
        <p:nvSpPr>
          <p:cNvPr id="8" name="Text 6"/>
          <p:cNvSpPr/>
          <p:nvPr/>
        </p:nvSpPr>
        <p:spPr>
          <a:xfrm>
            <a:off x="4856783" y="2429768"/>
            <a:ext cx="1642839" cy="396925"/>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5B5F71"/>
                </a:solidFill>
                <a:latin typeface="Instrument Sans Medium" pitchFamily="34" charset="0"/>
                <a:ea typeface="Instrument Sans Medium" pitchFamily="34" charset="-122"/>
                <a:cs typeface="Instrument Sans Medium" pitchFamily="34" charset="-120"/>
              </a:rPr>
              <a:t>User · Member · Produce Type · Collection Point</a:t>
            </a:r>
            <a:endParaRPr lang="en-US" sz="950" dirty="0"/>
          </a:p>
        </p:txBody>
      </p:sp>
      <p:sp>
        <p:nvSpPr>
          <p:cNvPr id="9" name="Shape 7"/>
          <p:cNvSpPr/>
          <p:nvPr/>
        </p:nvSpPr>
        <p:spPr>
          <a:xfrm>
            <a:off x="6752332" y="1983209"/>
            <a:ext cx="1900312" cy="972220"/>
          </a:xfrm>
          <a:prstGeom prst="roundRect">
            <a:avLst>
              <a:gd name="adj" fmla="val 5359"/>
            </a:avLst>
          </a:prstGeom>
          <a:solidFill>
            <a:srgbClr val="E2E3E9"/>
          </a:solidFill>
          <a:ln w="4763">
            <a:solidFill>
              <a:srgbClr val="C8C9CF"/>
            </a:solidFill>
            <a:prstDash val="solid"/>
          </a:ln>
        </p:spPr>
      </p:sp>
      <p:sp>
        <p:nvSpPr>
          <p:cNvPr id="10" name="Text 8"/>
          <p:cNvSpPr/>
          <p:nvPr/>
        </p:nvSpPr>
        <p:spPr>
          <a:xfrm>
            <a:off x="6881068" y="2111946"/>
            <a:ext cx="1642839" cy="193849"/>
          </a:xfrm>
          <a:prstGeom prst="rect">
            <a:avLst/>
          </a:prstGeom>
          <a:noFill/>
          <a:ln/>
        </p:spPr>
        <p:txBody>
          <a:bodyPr wrap="none" lIns="0" tIns="0" rIns="0" bIns="0" rtlCol="0" anchor="t"/>
          <a:lstStyle/>
          <a:p>
            <a:pPr algn="l" indent="0" marL="0">
              <a:lnSpc>
                <a:spcPct val="104000"/>
              </a:lnSpc>
              <a:buNone/>
            </a:pPr>
            <a:r>
              <a:rPr lang="en-US" sz="1200" dirty="0">
                <a:solidFill>
                  <a:srgbClr val="5B5F71"/>
                </a:solidFill>
                <a:latin typeface="Instrument Sans SemiBold" pitchFamily="34" charset="0"/>
                <a:ea typeface="Instrument Sans SemiBold" pitchFamily="34" charset="-122"/>
                <a:cs typeface="Instrument Sans SemiBold" pitchFamily="34" charset="-120"/>
              </a:rPr>
              <a:t>Transactions</a:t>
            </a:r>
            <a:endParaRPr lang="en-US" sz="1200" dirty="0"/>
          </a:p>
        </p:txBody>
      </p:sp>
      <p:sp>
        <p:nvSpPr>
          <p:cNvPr id="11" name="Text 9"/>
          <p:cNvSpPr/>
          <p:nvPr/>
        </p:nvSpPr>
        <p:spPr>
          <a:xfrm>
            <a:off x="6881068" y="2429768"/>
            <a:ext cx="1642839" cy="396925"/>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5B5F71"/>
                </a:solidFill>
                <a:latin typeface="Instrument Sans Medium" pitchFamily="34" charset="0"/>
                <a:ea typeface="Instrument Sans Medium" pitchFamily="34" charset="-122"/>
                <a:cs typeface="Instrument Sans Medium" pitchFamily="34" charset="-120"/>
              </a:rPr>
              <a:t>Delivery · Payment · Payment Allocation</a:t>
            </a:r>
            <a:endParaRPr lang="en-US" sz="950" dirty="0"/>
          </a:p>
        </p:txBody>
      </p:sp>
      <p:sp>
        <p:nvSpPr>
          <p:cNvPr id="12" name="Shape 10"/>
          <p:cNvSpPr/>
          <p:nvPr/>
        </p:nvSpPr>
        <p:spPr>
          <a:xfrm>
            <a:off x="4728046" y="3079403"/>
            <a:ext cx="1900312" cy="972220"/>
          </a:xfrm>
          <a:prstGeom prst="roundRect">
            <a:avLst>
              <a:gd name="adj" fmla="val 5359"/>
            </a:avLst>
          </a:prstGeom>
          <a:solidFill>
            <a:srgbClr val="E2E3E9"/>
          </a:solidFill>
          <a:ln w="4763">
            <a:solidFill>
              <a:srgbClr val="C8C9CF"/>
            </a:solidFill>
            <a:prstDash val="solid"/>
          </a:ln>
        </p:spPr>
      </p:sp>
      <p:sp>
        <p:nvSpPr>
          <p:cNvPr id="13" name="Text 11"/>
          <p:cNvSpPr/>
          <p:nvPr/>
        </p:nvSpPr>
        <p:spPr>
          <a:xfrm>
            <a:off x="4856783" y="3208139"/>
            <a:ext cx="1642839" cy="193849"/>
          </a:xfrm>
          <a:prstGeom prst="rect">
            <a:avLst/>
          </a:prstGeom>
          <a:noFill/>
          <a:ln/>
        </p:spPr>
        <p:txBody>
          <a:bodyPr wrap="none" lIns="0" tIns="0" rIns="0" bIns="0" rtlCol="0" anchor="t"/>
          <a:lstStyle/>
          <a:p>
            <a:pPr algn="l" indent="0" marL="0">
              <a:lnSpc>
                <a:spcPct val="104000"/>
              </a:lnSpc>
              <a:buNone/>
            </a:pPr>
            <a:r>
              <a:rPr lang="en-US" sz="1200" dirty="0">
                <a:solidFill>
                  <a:srgbClr val="5B5F71"/>
                </a:solidFill>
                <a:latin typeface="Instrument Sans SemiBold" pitchFamily="34" charset="0"/>
                <a:ea typeface="Instrument Sans SemiBold" pitchFamily="34" charset="-122"/>
                <a:cs typeface="Instrument Sans SemiBold" pitchFamily="34" charset="-120"/>
              </a:rPr>
              <a:t>History &amp; Audit</a:t>
            </a:r>
            <a:endParaRPr lang="en-US" sz="1200" dirty="0"/>
          </a:p>
        </p:txBody>
      </p:sp>
      <p:sp>
        <p:nvSpPr>
          <p:cNvPr id="14" name="Text 12"/>
          <p:cNvSpPr/>
          <p:nvPr/>
        </p:nvSpPr>
        <p:spPr>
          <a:xfrm>
            <a:off x="4856783" y="3525962"/>
            <a:ext cx="1642839" cy="396925"/>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5B5F71"/>
                </a:solidFill>
                <a:latin typeface="Instrument Sans Medium" pitchFamily="34" charset="0"/>
                <a:ea typeface="Instrument Sans Medium" pitchFamily="34" charset="-122"/>
                <a:cs typeface="Instrument Sans Medium" pitchFamily="34" charset="-120"/>
              </a:rPr>
              <a:t>Rate History · Delivery Status History · Audit Log</a:t>
            </a:r>
            <a:endParaRPr lang="en-US" sz="950" dirty="0"/>
          </a:p>
        </p:txBody>
      </p:sp>
      <p:sp>
        <p:nvSpPr>
          <p:cNvPr id="15" name="Shape 13"/>
          <p:cNvSpPr/>
          <p:nvPr/>
        </p:nvSpPr>
        <p:spPr>
          <a:xfrm>
            <a:off x="6752332" y="3079403"/>
            <a:ext cx="1900312" cy="972220"/>
          </a:xfrm>
          <a:prstGeom prst="roundRect">
            <a:avLst>
              <a:gd name="adj" fmla="val 5359"/>
            </a:avLst>
          </a:prstGeom>
          <a:solidFill>
            <a:srgbClr val="E2E3E9"/>
          </a:solidFill>
          <a:ln w="4763">
            <a:solidFill>
              <a:srgbClr val="C8C9CF"/>
            </a:solidFill>
            <a:prstDash val="solid"/>
          </a:ln>
        </p:spPr>
      </p:sp>
      <p:sp>
        <p:nvSpPr>
          <p:cNvPr id="16" name="Text 14"/>
          <p:cNvSpPr/>
          <p:nvPr/>
        </p:nvSpPr>
        <p:spPr>
          <a:xfrm>
            <a:off x="6881068" y="3208139"/>
            <a:ext cx="1642839" cy="193849"/>
          </a:xfrm>
          <a:prstGeom prst="rect">
            <a:avLst/>
          </a:prstGeom>
          <a:noFill/>
          <a:ln/>
        </p:spPr>
        <p:txBody>
          <a:bodyPr wrap="none" lIns="0" tIns="0" rIns="0" bIns="0" rtlCol="0" anchor="t"/>
          <a:lstStyle/>
          <a:p>
            <a:pPr algn="l" indent="0" marL="0">
              <a:lnSpc>
                <a:spcPct val="104000"/>
              </a:lnSpc>
              <a:buNone/>
            </a:pPr>
            <a:r>
              <a:rPr lang="en-US" sz="1200" dirty="0">
                <a:solidFill>
                  <a:srgbClr val="5B5F71"/>
                </a:solidFill>
                <a:latin typeface="Instrument Sans SemiBold" pitchFamily="34" charset="0"/>
                <a:ea typeface="Instrument Sans SemiBold" pitchFamily="34" charset="-122"/>
                <a:cs typeface="Instrument Sans SemiBold" pitchFamily="34" charset="-120"/>
              </a:rPr>
              <a:t>Intelligence</a:t>
            </a:r>
            <a:endParaRPr lang="en-US" sz="1200" dirty="0"/>
          </a:p>
        </p:txBody>
      </p:sp>
      <p:sp>
        <p:nvSpPr>
          <p:cNvPr id="17" name="Text 15"/>
          <p:cNvSpPr/>
          <p:nvPr/>
        </p:nvSpPr>
        <p:spPr>
          <a:xfrm>
            <a:off x="6881068" y="3525962"/>
            <a:ext cx="1642839" cy="396925"/>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5B5F71"/>
                </a:solidFill>
                <a:latin typeface="Instrument Sans Medium" pitchFamily="34" charset="0"/>
                <a:ea typeface="Instrument Sans Medium" pitchFamily="34" charset="-122"/>
                <a:cs typeface="Instrument Sans Medium" pitchFamily="34" charset="-120"/>
              </a:rPr>
              <a:t>Prediction · Attention Outcome</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96119" y="1338486"/>
            <a:ext cx="8151763" cy="387548"/>
          </a:xfrm>
          <a:prstGeom prst="rect">
            <a:avLst/>
          </a:prstGeom>
          <a:noFill/>
          <a:ln/>
        </p:spPr>
        <p:txBody>
          <a:bodyPr wrap="none" lIns="0" tIns="0" rIns="0" bIns="0" rtlCol="0" anchor="t"/>
          <a:lstStyle/>
          <a:p>
            <a:pPr algn="l" indent="0" marL="0">
              <a:lnSpc>
                <a:spcPct val="104000"/>
              </a:lnSpc>
              <a:buNone/>
            </a:pPr>
            <a:r>
              <a:rPr lang="en-US" sz="2400" dirty="0">
                <a:solidFill>
                  <a:srgbClr val="505468"/>
                </a:solidFill>
                <a:latin typeface="Instrument Sans SemiBold" pitchFamily="34" charset="0"/>
                <a:ea typeface="Instrument Sans SemiBold" pitchFamily="34" charset="-122"/>
                <a:cs typeface="Instrument Sans SemiBold" pitchFamily="34" charset="-120"/>
              </a:rPr>
              <a:t>One System, Three Clear Responsibilities</a:t>
            </a:r>
            <a:endParaRPr lang="en-US" sz="2400" dirty="0"/>
          </a:p>
        </p:txBody>
      </p:sp>
      <p:sp>
        <p:nvSpPr>
          <p:cNvPr id="3" name="Text 1"/>
          <p:cNvSpPr/>
          <p:nvPr/>
        </p:nvSpPr>
        <p:spPr>
          <a:xfrm>
            <a:off x="496119" y="2036043"/>
            <a:ext cx="2515195" cy="193849"/>
          </a:xfrm>
          <a:prstGeom prst="rect">
            <a:avLst/>
          </a:prstGeom>
          <a:noFill/>
          <a:ln/>
        </p:spPr>
        <p:txBody>
          <a:bodyPr wrap="none" lIns="0" tIns="0" rIns="0" bIns="0" rtlCol="0" anchor="t"/>
          <a:lstStyle/>
          <a:p>
            <a:pPr algn="l" indent="0" marL="0">
              <a:lnSpc>
                <a:spcPct val="104000"/>
              </a:lnSpc>
              <a:buNone/>
            </a:pPr>
            <a:r>
              <a:rPr lang="en-US" sz="1200" dirty="0">
                <a:solidFill>
                  <a:srgbClr val="505468"/>
                </a:solidFill>
                <a:latin typeface="Instrument Sans SemiBold" pitchFamily="34" charset="0"/>
                <a:ea typeface="Instrument Sans SemiBold" pitchFamily="34" charset="-122"/>
                <a:cs typeface="Instrument Sans SemiBold" pitchFamily="34" charset="-120"/>
              </a:rPr>
              <a:t>Collection Operator</a:t>
            </a:r>
            <a:endParaRPr lang="en-US" sz="1200" dirty="0"/>
          </a:p>
        </p:txBody>
      </p:sp>
      <p:sp>
        <p:nvSpPr>
          <p:cNvPr id="4" name="Text 2"/>
          <p:cNvSpPr/>
          <p:nvPr/>
        </p:nvSpPr>
        <p:spPr>
          <a:xfrm>
            <a:off x="496119" y="2353866"/>
            <a:ext cx="2515195" cy="1407691"/>
          </a:xfrm>
          <a:prstGeom prst="rect">
            <a:avLst/>
          </a:prstGeom>
          <a:noFill/>
          <a:ln/>
        </p:spPr>
        <p:txBody>
          <a:bodyPr wrap="square" lIns="0" tIns="0" rIns="0" bIns="0" rtlCol="0" anchor="t">
            <a:normAutofit/>
          </a:bodyPr>
          <a:lstStyle/>
          <a:p>
            <a:pPr algn="l" marL="193040" indent="-193040">
              <a:lnSpc>
                <a:spcPct val="133000"/>
              </a:lnSpc>
              <a:buSzPct val="100000"/>
              <a:buFont typeface="+mj-lt"/>
              <a:buAutoNum type="arabicPeriod" startAt="1"/>
            </a:pPr>
            <a:r>
              <a:rPr lang="en-US" sz="950" dirty="0">
                <a:solidFill>
                  <a:srgbClr val="5B5F71"/>
                </a:solidFill>
                <a:latin typeface="Instrument Sans Medium" pitchFamily="34" charset="0"/>
                <a:ea typeface="Instrument Sans Medium" pitchFamily="34" charset="-122"/>
                <a:cs typeface="Instrument Sans Medium" pitchFamily="34" charset="-120"/>
              </a:rPr>
              <a:t>Sign in</a:t>
            </a:r>
            <a:endParaRPr lang="en-US" sz="950" dirty="0"/>
          </a:p>
          <a:p>
            <a:pPr algn="l" marL="193040" indent="-193040">
              <a:lnSpc>
                <a:spcPct val="133000"/>
              </a:lnSpc>
              <a:buSzPct val="100000"/>
              <a:buFont typeface="+mj-lt"/>
              <a:buAutoNum type="arabicPeriod" startAt="2"/>
            </a:pPr>
            <a:r>
              <a:rPr lang="en-US" sz="950" dirty="0">
                <a:solidFill>
                  <a:srgbClr val="5B5F71"/>
                </a:solidFill>
                <a:latin typeface="Instrument Sans Medium" pitchFamily="34" charset="0"/>
                <a:ea typeface="Instrument Sans Medium" pitchFamily="34" charset="-122"/>
                <a:cs typeface="Instrument Sans Medium" pitchFamily="34" charset="-120"/>
              </a:rPr>
              <a:t>Open Record Collection</a:t>
            </a:r>
            <a:endParaRPr lang="en-US" sz="950" dirty="0"/>
          </a:p>
          <a:p>
            <a:pPr algn="l" marL="193040" indent="-193040">
              <a:lnSpc>
                <a:spcPct val="133000"/>
              </a:lnSpc>
              <a:buSzPct val="100000"/>
              <a:buFont typeface="+mj-lt"/>
              <a:buAutoNum type="arabicPeriod" startAt="3"/>
            </a:pPr>
            <a:r>
              <a:rPr lang="en-US" sz="950" dirty="0">
                <a:solidFill>
                  <a:srgbClr val="5B5F71"/>
                </a:solidFill>
                <a:latin typeface="Instrument Sans Medium" pitchFamily="34" charset="0"/>
                <a:ea typeface="Instrument Sans Medium" pitchFamily="34" charset="-122"/>
                <a:cs typeface="Instrument Sans Medium" pitchFamily="34" charset="-120"/>
              </a:rPr>
              <a:t>Select farmer and produce</a:t>
            </a:r>
            <a:endParaRPr lang="en-US" sz="950" dirty="0"/>
          </a:p>
          <a:p>
            <a:pPr algn="l" marL="193040" indent="-193040">
              <a:lnSpc>
                <a:spcPct val="133000"/>
              </a:lnSpc>
              <a:buSzPct val="100000"/>
              <a:buFont typeface="+mj-lt"/>
              <a:buAutoNum type="arabicPeriod" startAt="4"/>
            </a:pPr>
            <a:r>
              <a:rPr lang="en-US" sz="950" dirty="0">
                <a:solidFill>
                  <a:srgbClr val="5B5F71"/>
                </a:solidFill>
                <a:latin typeface="Instrument Sans Medium" pitchFamily="34" charset="0"/>
                <a:ea typeface="Instrument Sans Medium" pitchFamily="34" charset="-122"/>
                <a:cs typeface="Instrument Sans Medium" pitchFamily="34" charset="-120"/>
              </a:rPr>
              <a:t>Enter quantity and rate</a:t>
            </a:r>
            <a:endParaRPr lang="en-US" sz="950" dirty="0"/>
          </a:p>
          <a:p>
            <a:pPr algn="l" marL="193040" indent="-193040">
              <a:lnSpc>
                <a:spcPct val="133000"/>
              </a:lnSpc>
              <a:buSzPct val="100000"/>
              <a:buFont typeface="+mj-lt"/>
              <a:buAutoNum type="arabicPeriod" startAt="5"/>
            </a:pPr>
            <a:r>
              <a:rPr lang="en-US" sz="950" dirty="0">
                <a:solidFill>
                  <a:srgbClr val="5B5F71"/>
                </a:solidFill>
                <a:latin typeface="Instrument Sans Medium" pitchFamily="34" charset="0"/>
                <a:ea typeface="Instrument Sans Medium" pitchFamily="34" charset="-122"/>
                <a:cs typeface="Instrument Sans Medium" pitchFamily="34" charset="-120"/>
              </a:rPr>
              <a:t>Review calculation and risk result</a:t>
            </a:r>
            <a:endParaRPr lang="en-US" sz="950" dirty="0"/>
          </a:p>
          <a:p>
            <a:pPr algn="l" marL="193040" indent="-193040">
              <a:lnSpc>
                <a:spcPct val="133000"/>
              </a:lnSpc>
              <a:buSzPct val="100000"/>
              <a:buFont typeface="+mj-lt"/>
              <a:buAutoNum type="arabicPeriod" startAt="6"/>
            </a:pPr>
            <a:r>
              <a:rPr lang="en-US" sz="950" dirty="0">
                <a:solidFill>
                  <a:srgbClr val="5B5F71"/>
                </a:solidFill>
                <a:latin typeface="Instrument Sans Medium" pitchFamily="34" charset="0"/>
                <a:ea typeface="Instrument Sans Medium" pitchFamily="34" charset="-122"/>
                <a:cs typeface="Instrument Sans Medium" pitchFamily="34" charset="-120"/>
              </a:rPr>
              <a:t>Submit and generate receipt</a:t>
            </a:r>
            <a:endParaRPr lang="en-US" sz="950" dirty="0"/>
          </a:p>
        </p:txBody>
      </p:sp>
      <p:sp>
        <p:nvSpPr>
          <p:cNvPr id="5" name="Text 3"/>
          <p:cNvSpPr/>
          <p:nvPr/>
        </p:nvSpPr>
        <p:spPr>
          <a:xfrm>
            <a:off x="3318644" y="2036043"/>
            <a:ext cx="2515195" cy="193849"/>
          </a:xfrm>
          <a:prstGeom prst="rect">
            <a:avLst/>
          </a:prstGeom>
          <a:noFill/>
          <a:ln/>
        </p:spPr>
        <p:txBody>
          <a:bodyPr wrap="none" lIns="0" tIns="0" rIns="0" bIns="0" rtlCol="0" anchor="t"/>
          <a:lstStyle/>
          <a:p>
            <a:pPr algn="l" indent="0" marL="0">
              <a:lnSpc>
                <a:spcPct val="104000"/>
              </a:lnSpc>
              <a:buNone/>
            </a:pPr>
            <a:r>
              <a:rPr lang="en-US" sz="1200" dirty="0">
                <a:solidFill>
                  <a:srgbClr val="505468"/>
                </a:solidFill>
                <a:latin typeface="Instrument Sans SemiBold" pitchFamily="34" charset="0"/>
                <a:ea typeface="Instrument Sans SemiBold" pitchFamily="34" charset="-122"/>
                <a:cs typeface="Instrument Sans SemiBold" pitchFamily="34" charset="-120"/>
              </a:rPr>
              <a:t>Group Secretary</a:t>
            </a:r>
            <a:endParaRPr lang="en-US" sz="1200" dirty="0"/>
          </a:p>
        </p:txBody>
      </p:sp>
      <p:sp>
        <p:nvSpPr>
          <p:cNvPr id="6" name="Text 4"/>
          <p:cNvSpPr/>
          <p:nvPr/>
        </p:nvSpPr>
        <p:spPr>
          <a:xfrm>
            <a:off x="3318644" y="2353866"/>
            <a:ext cx="2515195" cy="1407691"/>
          </a:xfrm>
          <a:prstGeom prst="rect">
            <a:avLst/>
          </a:prstGeom>
          <a:noFill/>
          <a:ln/>
        </p:spPr>
        <p:txBody>
          <a:bodyPr wrap="square" lIns="0" tIns="0" rIns="0" bIns="0" rtlCol="0" anchor="t">
            <a:normAutofit/>
          </a:bodyPr>
          <a:lstStyle/>
          <a:p>
            <a:pPr algn="l" marL="193040" indent="-193040">
              <a:lnSpc>
                <a:spcPct val="133000"/>
              </a:lnSpc>
              <a:buSzPct val="100000"/>
              <a:buFont typeface="+mj-lt"/>
              <a:buAutoNum type="arabicPeriod" startAt="1"/>
            </a:pPr>
            <a:r>
              <a:rPr lang="en-US" sz="950" dirty="0">
                <a:solidFill>
                  <a:srgbClr val="5B5F71"/>
                </a:solidFill>
                <a:latin typeface="Instrument Sans Medium" pitchFamily="34" charset="0"/>
                <a:ea typeface="Instrument Sans Medium" pitchFamily="34" charset="-122"/>
                <a:cs typeface="Instrument Sans Medium" pitchFamily="34" charset="-120"/>
              </a:rPr>
              <a:t>Sign in</a:t>
            </a:r>
            <a:endParaRPr lang="en-US" sz="950" dirty="0"/>
          </a:p>
          <a:p>
            <a:pPr algn="l" marL="193040" indent="-193040">
              <a:lnSpc>
                <a:spcPct val="133000"/>
              </a:lnSpc>
              <a:buSzPct val="100000"/>
              <a:buFont typeface="+mj-lt"/>
              <a:buAutoNum type="arabicPeriod" startAt="2"/>
            </a:pPr>
            <a:r>
              <a:rPr lang="en-US" sz="950" dirty="0">
                <a:solidFill>
                  <a:srgbClr val="5B5F71"/>
                </a:solidFill>
                <a:latin typeface="Instrument Sans Medium" pitchFamily="34" charset="0"/>
                <a:ea typeface="Instrument Sans Medium" pitchFamily="34" charset="-122"/>
                <a:cs typeface="Instrument Sans Medium" pitchFamily="34" charset="-120"/>
              </a:rPr>
              <a:t>Review dashboard and attention queue</a:t>
            </a:r>
            <a:endParaRPr lang="en-US" sz="950" dirty="0"/>
          </a:p>
          <a:p>
            <a:pPr algn="l" marL="193040" indent="-193040">
              <a:lnSpc>
                <a:spcPct val="133000"/>
              </a:lnSpc>
              <a:buSzPct val="100000"/>
              <a:buFont typeface="+mj-lt"/>
              <a:buAutoNum type="arabicPeriod" startAt="3"/>
            </a:pPr>
            <a:r>
              <a:rPr lang="en-US" sz="950" dirty="0">
                <a:solidFill>
                  <a:srgbClr val="5B5F71"/>
                </a:solidFill>
                <a:latin typeface="Instrument Sans Medium" pitchFamily="34" charset="0"/>
                <a:ea typeface="Instrument Sans Medium" pitchFamily="34" charset="-122"/>
                <a:cs typeface="Instrument Sans Medium" pitchFamily="34" charset="-120"/>
              </a:rPr>
              <a:t>Investigate high-priority records</a:t>
            </a:r>
            <a:endParaRPr lang="en-US" sz="950" dirty="0"/>
          </a:p>
          <a:p>
            <a:pPr algn="l" marL="193040" indent="-193040">
              <a:lnSpc>
                <a:spcPct val="133000"/>
              </a:lnSpc>
              <a:buSzPct val="100000"/>
              <a:buFont typeface="+mj-lt"/>
              <a:buAutoNum type="arabicPeriod" startAt="4"/>
            </a:pPr>
            <a:r>
              <a:rPr lang="en-US" sz="950" dirty="0">
                <a:solidFill>
                  <a:srgbClr val="5B5F71"/>
                </a:solidFill>
                <a:latin typeface="Instrument Sans Medium" pitchFamily="34" charset="0"/>
                <a:ea typeface="Instrument Sans Medium" pitchFamily="34" charset="-122"/>
                <a:cs typeface="Instrument Sans Medium" pitchFamily="34" charset="-120"/>
              </a:rPr>
              <a:t>Resolve or flag for follow-up</a:t>
            </a:r>
            <a:endParaRPr lang="en-US" sz="950" dirty="0"/>
          </a:p>
          <a:p>
            <a:pPr algn="l" marL="193040" indent="-193040">
              <a:lnSpc>
                <a:spcPct val="133000"/>
              </a:lnSpc>
              <a:buSzPct val="100000"/>
              <a:buFont typeface="+mj-lt"/>
              <a:buAutoNum type="arabicPeriod" startAt="5"/>
            </a:pPr>
            <a:r>
              <a:rPr lang="en-US" sz="950" dirty="0">
                <a:solidFill>
                  <a:srgbClr val="5B5F71"/>
                </a:solidFill>
                <a:latin typeface="Instrument Sans Medium" pitchFamily="34" charset="0"/>
                <a:ea typeface="Instrument Sans Medium" pitchFamily="34" charset="-122"/>
                <a:cs typeface="Instrument Sans Medium" pitchFamily="34" charset="-120"/>
              </a:rPr>
              <a:t>Open member statement</a:t>
            </a:r>
            <a:endParaRPr lang="en-US" sz="950" dirty="0"/>
          </a:p>
          <a:p>
            <a:pPr algn="l" marL="193040" indent="-193040">
              <a:lnSpc>
                <a:spcPct val="133000"/>
              </a:lnSpc>
              <a:buSzPct val="100000"/>
              <a:buFont typeface="+mj-lt"/>
              <a:buAutoNum type="arabicPeriod" startAt="6"/>
            </a:pPr>
            <a:r>
              <a:rPr lang="en-US" sz="950" dirty="0">
                <a:solidFill>
                  <a:srgbClr val="5B5F71"/>
                </a:solidFill>
                <a:latin typeface="Instrument Sans Medium" pitchFamily="34" charset="0"/>
                <a:ea typeface="Instrument Sans Medium" pitchFamily="34" charset="-122"/>
                <a:cs typeface="Instrument Sans Medium" pitchFamily="34" charset="-120"/>
              </a:rPr>
              <a:t>Record payment and update balance</a:t>
            </a:r>
            <a:endParaRPr lang="en-US" sz="950" dirty="0"/>
          </a:p>
        </p:txBody>
      </p:sp>
      <p:sp>
        <p:nvSpPr>
          <p:cNvPr id="7" name="Text 5"/>
          <p:cNvSpPr/>
          <p:nvPr/>
        </p:nvSpPr>
        <p:spPr>
          <a:xfrm>
            <a:off x="6141169" y="2036043"/>
            <a:ext cx="2515195" cy="193849"/>
          </a:xfrm>
          <a:prstGeom prst="rect">
            <a:avLst/>
          </a:prstGeom>
          <a:noFill/>
          <a:ln/>
        </p:spPr>
        <p:txBody>
          <a:bodyPr wrap="none" lIns="0" tIns="0" rIns="0" bIns="0" rtlCol="0" anchor="t"/>
          <a:lstStyle/>
          <a:p>
            <a:pPr algn="l" indent="0" marL="0">
              <a:lnSpc>
                <a:spcPct val="104000"/>
              </a:lnSpc>
              <a:buNone/>
            </a:pPr>
            <a:r>
              <a:rPr lang="en-US" sz="1200" dirty="0">
                <a:solidFill>
                  <a:srgbClr val="505468"/>
                </a:solidFill>
                <a:latin typeface="Instrument Sans SemiBold" pitchFamily="34" charset="0"/>
                <a:ea typeface="Instrument Sans SemiBold" pitchFamily="34" charset="-122"/>
                <a:cs typeface="Instrument Sans SemiBold" pitchFamily="34" charset="-120"/>
              </a:rPr>
              <a:t>Administrator</a:t>
            </a:r>
            <a:endParaRPr lang="en-US" sz="1200" dirty="0"/>
          </a:p>
        </p:txBody>
      </p:sp>
      <p:sp>
        <p:nvSpPr>
          <p:cNvPr id="8" name="Text 6"/>
          <p:cNvSpPr/>
          <p:nvPr/>
        </p:nvSpPr>
        <p:spPr>
          <a:xfrm>
            <a:off x="6141169" y="2353866"/>
            <a:ext cx="2515195" cy="1364307"/>
          </a:xfrm>
          <a:prstGeom prst="rect">
            <a:avLst/>
          </a:prstGeom>
          <a:noFill/>
          <a:ln/>
        </p:spPr>
        <p:txBody>
          <a:bodyPr wrap="square" lIns="0" tIns="0" rIns="0" bIns="0" rtlCol="0" anchor="t">
            <a:normAutofit/>
          </a:bodyPr>
          <a:lstStyle/>
          <a:p>
            <a:pPr algn="l" marL="193040" indent="-193040">
              <a:lnSpc>
                <a:spcPct val="133000"/>
              </a:lnSpc>
              <a:buSzPct val="100000"/>
              <a:buFont typeface="+mj-lt"/>
              <a:buAutoNum type="arabicPeriod" startAt="1"/>
            </a:pPr>
            <a:r>
              <a:rPr lang="en-US" sz="950" dirty="0">
                <a:solidFill>
                  <a:srgbClr val="5B5F71"/>
                </a:solidFill>
                <a:latin typeface="Instrument Sans Medium" pitchFamily="34" charset="0"/>
                <a:ea typeface="Instrument Sans Medium" pitchFamily="34" charset="-122"/>
                <a:cs typeface="Instrument Sans Medium" pitchFamily="34" charset="-120"/>
              </a:rPr>
              <a:t>Sign in</a:t>
            </a:r>
            <a:endParaRPr lang="en-US" sz="950" dirty="0"/>
          </a:p>
          <a:p>
            <a:pPr algn="l" marL="193040" indent="-193040">
              <a:lnSpc>
                <a:spcPct val="133000"/>
              </a:lnSpc>
              <a:buSzPct val="100000"/>
              <a:buFont typeface="+mj-lt"/>
              <a:buAutoNum type="arabicPeriod" startAt="2"/>
            </a:pPr>
            <a:r>
              <a:rPr lang="en-US" sz="950" dirty="0">
                <a:solidFill>
                  <a:srgbClr val="5B5F71"/>
                </a:solidFill>
                <a:latin typeface="Instrument Sans Medium" pitchFamily="34" charset="0"/>
                <a:ea typeface="Instrument Sans Medium" pitchFamily="34" charset="-122"/>
                <a:cs typeface="Instrument Sans Medium" pitchFamily="34" charset="-120"/>
              </a:rPr>
              <a:t>Manage members and users</a:t>
            </a:r>
            <a:endParaRPr lang="en-US" sz="950" dirty="0"/>
          </a:p>
          <a:p>
            <a:pPr algn="l" marL="193040" indent="-193040">
              <a:lnSpc>
                <a:spcPct val="133000"/>
              </a:lnSpc>
              <a:buSzPct val="100000"/>
              <a:buFont typeface="+mj-lt"/>
              <a:buAutoNum type="arabicPeriod" startAt="3"/>
            </a:pPr>
            <a:r>
              <a:rPr lang="en-US" sz="950" dirty="0">
                <a:solidFill>
                  <a:srgbClr val="5B5F71"/>
                </a:solidFill>
                <a:latin typeface="Instrument Sans Medium" pitchFamily="34" charset="0"/>
                <a:ea typeface="Instrument Sans Medium" pitchFamily="34" charset="-122"/>
                <a:cs typeface="Instrument Sans Medium" pitchFamily="34" charset="-120"/>
              </a:rPr>
              <a:t>Manage produce types and collection points</a:t>
            </a:r>
            <a:endParaRPr lang="en-US" sz="950" dirty="0"/>
          </a:p>
          <a:p>
            <a:pPr algn="l" marL="193040" indent="-193040">
              <a:lnSpc>
                <a:spcPct val="133000"/>
              </a:lnSpc>
              <a:buSzPct val="100000"/>
              <a:buFont typeface="+mj-lt"/>
              <a:buAutoNum type="arabicPeriod" startAt="4"/>
            </a:pPr>
            <a:r>
              <a:rPr lang="en-US" sz="950" dirty="0">
                <a:solidFill>
                  <a:srgbClr val="5B5F71"/>
                </a:solidFill>
                <a:latin typeface="Instrument Sans Medium" pitchFamily="34" charset="0"/>
                <a:ea typeface="Instrument Sans Medium" pitchFamily="34" charset="-122"/>
                <a:cs typeface="Instrument Sans Medium" pitchFamily="34" charset="-120"/>
              </a:rPr>
              <a:t>Create effective-dated rates</a:t>
            </a:r>
            <a:endParaRPr lang="en-US" sz="950" dirty="0"/>
          </a:p>
          <a:p>
            <a:pPr algn="l" marL="193040" indent="-193040">
              <a:lnSpc>
                <a:spcPct val="133000"/>
              </a:lnSpc>
              <a:buSzPct val="100000"/>
              <a:buFont typeface="+mj-lt"/>
              <a:buAutoNum type="arabicPeriod" startAt="5"/>
            </a:pPr>
            <a:r>
              <a:rPr lang="en-US" sz="950" dirty="0">
                <a:solidFill>
                  <a:srgbClr val="5B5F71"/>
                </a:solidFill>
                <a:latin typeface="Instrument Sans Medium" pitchFamily="34" charset="0"/>
                <a:ea typeface="Instrument Sans Medium" pitchFamily="34" charset="-122"/>
                <a:cs typeface="Instrument Sans Medium" pitchFamily="34" charset="-120"/>
              </a:rPr>
              <a:t>Review audit information</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96119" y="451172"/>
            <a:ext cx="8151763" cy="381521"/>
          </a:xfrm>
          <a:prstGeom prst="rect">
            <a:avLst/>
          </a:prstGeom>
          <a:noFill/>
          <a:ln/>
        </p:spPr>
        <p:txBody>
          <a:bodyPr wrap="none" lIns="0" tIns="0" rIns="0" bIns="0" rtlCol="0" anchor="t"/>
          <a:lstStyle/>
          <a:p>
            <a:pPr algn="l" indent="0" marL="0">
              <a:lnSpc>
                <a:spcPct val="104000"/>
              </a:lnSpc>
              <a:buNone/>
            </a:pPr>
            <a:r>
              <a:rPr lang="en-US" sz="2400" dirty="0">
                <a:solidFill>
                  <a:srgbClr val="505468"/>
                </a:solidFill>
                <a:latin typeface="Instrument Sans SemiBold" pitchFamily="34" charset="0"/>
                <a:ea typeface="Instrument Sans SemiBold" pitchFamily="34" charset="-122"/>
                <a:cs typeface="Instrument Sans SemiBold" pitchFamily="34" charset="-120"/>
              </a:rPr>
              <a:t>From Collection Entry to Trusted Statement</a:t>
            </a:r>
            <a:endParaRPr lang="en-US" sz="2400" dirty="0"/>
          </a:p>
        </p:txBody>
      </p:sp>
      <p:sp>
        <p:nvSpPr>
          <p:cNvPr id="3" name="Text 1"/>
          <p:cNvSpPr/>
          <p:nvPr/>
        </p:nvSpPr>
        <p:spPr>
          <a:xfrm>
            <a:off x="496119" y="1133103"/>
            <a:ext cx="3926979" cy="190723"/>
          </a:xfrm>
          <a:prstGeom prst="rect">
            <a:avLst/>
          </a:prstGeom>
          <a:noFill/>
          <a:ln/>
        </p:spPr>
        <p:txBody>
          <a:bodyPr wrap="none" lIns="0" tIns="0" rIns="0" bIns="0" rtlCol="0" anchor="t"/>
          <a:lstStyle/>
          <a:p>
            <a:pPr algn="l" indent="0" marL="0">
              <a:lnSpc>
                <a:spcPct val="104000"/>
              </a:lnSpc>
              <a:buNone/>
            </a:pPr>
            <a:r>
              <a:rPr lang="en-US" sz="1200" dirty="0">
                <a:solidFill>
                  <a:srgbClr val="505468"/>
                </a:solidFill>
                <a:latin typeface="Instrument Sans SemiBold" pitchFamily="34" charset="0"/>
                <a:ea typeface="Instrument Sans SemiBold" pitchFamily="34" charset="-122"/>
                <a:cs typeface="Instrument Sans SemiBold" pitchFamily="34" charset="-120"/>
              </a:rPr>
              <a:t>End-to-End Working Flow</a:t>
            </a:r>
            <a:endParaRPr lang="en-US" sz="1200" dirty="0"/>
          </a:p>
        </p:txBody>
      </p:sp>
      <p:pic>
        <p:nvPicPr>
          <p:cNvPr id="4" name="Image 0" descr="preencoded.png">    </p:cNvPr>
          <p:cNvPicPr>
            <a:picLocks noChangeAspect="1"/>
          </p:cNvPicPr>
          <p:nvPr/>
        </p:nvPicPr>
        <p:blipFill>
          <a:blip r:embed="rId1"/>
          <a:stretch>
            <a:fillRect/>
          </a:stretch>
        </p:blipFill>
        <p:spPr>
          <a:xfrm>
            <a:off x="496119" y="1459037"/>
            <a:ext cx="3926979" cy="1473547"/>
          </a:xfrm>
          <a:prstGeom prst="rect">
            <a:avLst/>
          </a:prstGeom>
        </p:spPr>
      </p:pic>
      <p:sp>
        <p:nvSpPr>
          <p:cNvPr id="5" name="Text 2"/>
          <p:cNvSpPr/>
          <p:nvPr/>
        </p:nvSpPr>
        <p:spPr>
          <a:xfrm>
            <a:off x="3669051" y="2517818"/>
            <a:ext cx="592291" cy="228195"/>
          </a:xfrm>
          <a:prstGeom prst="rect">
            <a:avLst/>
          </a:prstGeom>
          <a:noFill/>
          <a:ln/>
        </p:spPr>
        <p:txBody>
          <a:bodyPr wrap="square" lIns="0" tIns="0" rIns="0" bIns="0" rtlCol="0" anchor="t">
            <a:normAutofit/>
          </a:bodyPr>
          <a:lstStyle/>
          <a:p>
            <a:pPr algn="ctr" indent="0" marL="0">
              <a:lnSpc>
                <a:spcPct val="104000"/>
              </a:lnSpc>
              <a:buNone/>
            </a:pPr>
            <a:r>
              <a:rPr lang="en-US" sz="700" dirty="0">
                <a:solidFill>
                  <a:srgbClr val="5B5F71"/>
                </a:solidFill>
                <a:latin typeface="Instrument Sans SemiBold" pitchFamily="34" charset="0"/>
                <a:ea typeface="Instrument Sans SemiBold" pitchFamily="34" charset="-122"/>
                <a:cs typeface="Instrument Sans SemiBold" pitchFamily="34" charset="-120"/>
              </a:rPr>
              <a:t>Update Registers</a:t>
            </a:r>
            <a:endParaRPr lang="en-US" sz="700" dirty="0"/>
          </a:p>
        </p:txBody>
      </p:sp>
      <p:sp>
        <p:nvSpPr>
          <p:cNvPr id="6" name="Text 3"/>
          <p:cNvSpPr/>
          <p:nvPr/>
        </p:nvSpPr>
        <p:spPr>
          <a:xfrm>
            <a:off x="2922601" y="2517818"/>
            <a:ext cx="592292" cy="228195"/>
          </a:xfrm>
          <a:prstGeom prst="rect">
            <a:avLst/>
          </a:prstGeom>
          <a:noFill/>
          <a:ln/>
        </p:spPr>
        <p:txBody>
          <a:bodyPr wrap="square" lIns="0" tIns="0" rIns="0" bIns="0" rtlCol="0" anchor="t">
            <a:normAutofit/>
          </a:bodyPr>
          <a:lstStyle/>
          <a:p>
            <a:pPr algn="ctr" indent="0" marL="0">
              <a:lnSpc>
                <a:spcPct val="104000"/>
              </a:lnSpc>
              <a:buNone/>
            </a:pPr>
            <a:r>
              <a:rPr lang="en-US" sz="700" dirty="0">
                <a:solidFill>
                  <a:srgbClr val="5B5F71"/>
                </a:solidFill>
                <a:latin typeface="Instrument Sans SemiBold" pitchFamily="34" charset="0"/>
                <a:ea typeface="Instrument Sans SemiBold" pitchFamily="34" charset="-122"/>
                <a:cs typeface="Instrument Sans SemiBold" pitchFamily="34" charset="-120"/>
              </a:rPr>
              <a:t>Save &amp; Receipt</a:t>
            </a:r>
            <a:endParaRPr lang="en-US" sz="700" dirty="0"/>
          </a:p>
        </p:txBody>
      </p:sp>
      <p:sp>
        <p:nvSpPr>
          <p:cNvPr id="7" name="Text 4"/>
          <p:cNvSpPr/>
          <p:nvPr/>
        </p:nvSpPr>
        <p:spPr>
          <a:xfrm>
            <a:off x="2180209" y="2517818"/>
            <a:ext cx="592292" cy="228195"/>
          </a:xfrm>
          <a:prstGeom prst="rect">
            <a:avLst/>
          </a:prstGeom>
          <a:noFill/>
          <a:ln/>
        </p:spPr>
        <p:txBody>
          <a:bodyPr wrap="square" lIns="0" tIns="0" rIns="0" bIns="0" rtlCol="0" anchor="t">
            <a:normAutofit/>
          </a:bodyPr>
          <a:lstStyle/>
          <a:p>
            <a:pPr algn="ctr" indent="0" marL="0">
              <a:lnSpc>
                <a:spcPct val="104000"/>
              </a:lnSpc>
              <a:buNone/>
            </a:pPr>
            <a:r>
              <a:rPr lang="en-US" sz="700" dirty="0">
                <a:solidFill>
                  <a:srgbClr val="5B5F71"/>
                </a:solidFill>
                <a:latin typeface="Instrument Sans SemiBold" pitchFamily="34" charset="0"/>
                <a:ea typeface="Instrument Sans SemiBold" pitchFamily="34" charset="-122"/>
                <a:cs typeface="Instrument Sans SemiBold" pitchFamily="34" charset="-120"/>
              </a:rPr>
              <a:t>Submit &amp; Calculate</a:t>
            </a:r>
            <a:endParaRPr lang="en-US" sz="700" dirty="0"/>
          </a:p>
        </p:txBody>
      </p:sp>
      <p:sp>
        <p:nvSpPr>
          <p:cNvPr id="8" name="Text 5"/>
          <p:cNvSpPr/>
          <p:nvPr/>
        </p:nvSpPr>
        <p:spPr>
          <a:xfrm>
            <a:off x="1437816" y="2517818"/>
            <a:ext cx="592291" cy="228195"/>
          </a:xfrm>
          <a:prstGeom prst="rect">
            <a:avLst/>
          </a:prstGeom>
          <a:noFill/>
          <a:ln/>
        </p:spPr>
        <p:txBody>
          <a:bodyPr wrap="square" lIns="0" tIns="0" rIns="0" bIns="0" rtlCol="0" anchor="t">
            <a:normAutofit/>
          </a:bodyPr>
          <a:lstStyle/>
          <a:p>
            <a:pPr algn="ctr" indent="0" marL="0">
              <a:lnSpc>
                <a:spcPct val="104000"/>
              </a:lnSpc>
              <a:buNone/>
            </a:pPr>
            <a:r>
              <a:rPr lang="en-US" sz="700" dirty="0">
                <a:solidFill>
                  <a:srgbClr val="5B5F71"/>
                </a:solidFill>
                <a:latin typeface="Instrument Sans SemiBold" pitchFamily="34" charset="0"/>
                <a:ea typeface="Instrument Sans SemiBold" pitchFamily="34" charset="-122"/>
                <a:cs typeface="Instrument Sans SemiBold" pitchFamily="34" charset="-120"/>
              </a:rPr>
              <a:t>Risk Prediction</a:t>
            </a:r>
            <a:endParaRPr lang="en-US" sz="700" dirty="0"/>
          </a:p>
        </p:txBody>
      </p:sp>
      <p:sp>
        <p:nvSpPr>
          <p:cNvPr id="9" name="Text 6"/>
          <p:cNvSpPr/>
          <p:nvPr/>
        </p:nvSpPr>
        <p:spPr>
          <a:xfrm>
            <a:off x="679196" y="2517818"/>
            <a:ext cx="592291" cy="228195"/>
          </a:xfrm>
          <a:prstGeom prst="rect">
            <a:avLst/>
          </a:prstGeom>
          <a:noFill/>
          <a:ln/>
        </p:spPr>
        <p:txBody>
          <a:bodyPr wrap="square" lIns="0" tIns="0" rIns="0" bIns="0" rtlCol="0" anchor="t">
            <a:normAutofit/>
          </a:bodyPr>
          <a:lstStyle/>
          <a:p>
            <a:pPr algn="ctr" indent="0" marL="0">
              <a:lnSpc>
                <a:spcPct val="104000"/>
              </a:lnSpc>
              <a:buNone/>
            </a:pPr>
            <a:r>
              <a:rPr lang="en-US" sz="700" dirty="0">
                <a:solidFill>
                  <a:srgbClr val="5B5F71"/>
                </a:solidFill>
                <a:latin typeface="Instrument Sans SemiBold" pitchFamily="34" charset="0"/>
                <a:ea typeface="Instrument Sans SemiBold" pitchFamily="34" charset="-122"/>
                <a:cs typeface="Instrument Sans SemiBold" pitchFamily="34" charset="-120"/>
              </a:rPr>
              <a:t>Enter Delivery</a:t>
            </a:r>
            <a:endParaRPr lang="en-US" sz="700" dirty="0"/>
          </a:p>
        </p:txBody>
      </p:sp>
      <p:sp>
        <p:nvSpPr>
          <p:cNvPr id="10" name="Text 7"/>
          <p:cNvSpPr/>
          <p:nvPr/>
        </p:nvSpPr>
        <p:spPr>
          <a:xfrm>
            <a:off x="4725665" y="1133103"/>
            <a:ext cx="3926979" cy="190723"/>
          </a:xfrm>
          <a:prstGeom prst="rect">
            <a:avLst/>
          </a:prstGeom>
          <a:noFill/>
          <a:ln/>
        </p:spPr>
        <p:txBody>
          <a:bodyPr wrap="none" lIns="0" tIns="0" rIns="0" bIns="0" rtlCol="0" anchor="t"/>
          <a:lstStyle/>
          <a:p>
            <a:pPr algn="l" indent="0" marL="0">
              <a:lnSpc>
                <a:spcPct val="104000"/>
              </a:lnSpc>
              <a:buNone/>
            </a:pPr>
            <a:r>
              <a:rPr lang="en-US" sz="1200" dirty="0">
                <a:solidFill>
                  <a:srgbClr val="505468"/>
                </a:solidFill>
                <a:latin typeface="Instrument Sans SemiBold" pitchFamily="34" charset="0"/>
                <a:ea typeface="Instrument Sans SemiBold" pitchFamily="34" charset="-122"/>
                <a:cs typeface="Instrument Sans SemiBold" pitchFamily="34" charset="-120"/>
              </a:rPr>
              <a:t>Calculation Verification</a:t>
            </a:r>
            <a:endParaRPr lang="en-US" sz="1200" dirty="0"/>
          </a:p>
        </p:txBody>
      </p:sp>
      <p:sp>
        <p:nvSpPr>
          <p:cNvPr id="11" name="Text 8"/>
          <p:cNvSpPr/>
          <p:nvPr/>
        </p:nvSpPr>
        <p:spPr>
          <a:xfrm>
            <a:off x="4908798" y="1567160"/>
            <a:ext cx="3743846" cy="495821"/>
          </a:xfrm>
          <a:prstGeom prst="rect">
            <a:avLst/>
          </a:prstGeom>
          <a:noFill/>
          <a:ln/>
        </p:spPr>
        <p:txBody>
          <a:bodyPr wrap="square" lIns="0" tIns="0" rIns="0" bIns="0" rtlCol="0" anchor="t"/>
          <a:lstStyle/>
          <a:p>
            <a:pPr algn="l" indent="0" marL="0">
              <a:lnSpc>
                <a:spcPct val="132000"/>
              </a:lnSpc>
              <a:spcAft>
                <a:spcPts val="850"/>
              </a:spcAft>
              <a:buNone/>
            </a:pPr>
            <a:r>
              <a:rPr lang="en-US" sz="950" dirty="0">
                <a:solidFill>
                  <a:srgbClr val="5B5F71"/>
                </a:solidFill>
                <a:latin typeface="Instrument Sans Medium" pitchFamily="34" charset="0"/>
                <a:ea typeface="Instrument Sans Medium" pitchFamily="34" charset="-122"/>
                <a:cs typeface="Instrument Sans Medium" pitchFamily="34" charset="-120"/>
              </a:rPr>
              <a:t>Quantity = 125.50 kg | Rate = ₹32.40 per kg</a:t>
            </a:r>
            <a:endParaRPr lang="en-US" sz="950" dirty="0"/>
          </a:p>
          <a:p>
            <a:pPr algn="l" indent="0" marL="0">
              <a:lnSpc>
                <a:spcPct val="132000"/>
              </a:lnSpc>
              <a:buNone/>
            </a:pPr>
            <a:r>
              <a:rPr lang="en-US" sz="950" b="1" dirty="0">
                <a:solidFill>
                  <a:srgbClr val="5B5F71"/>
                </a:solidFill>
                <a:latin typeface="Instrument Sans Bold" pitchFamily="34" charset="0"/>
                <a:ea typeface="Instrument Sans Bold" pitchFamily="34" charset="-122"/>
                <a:cs typeface="Instrument Sans Bold" pitchFamily="34" charset="-120"/>
              </a:rPr>
              <a:t>Amount = 125.50 × 32.40 = ₹4,066.20</a:t>
            </a:r>
            <a:endParaRPr lang="en-US" sz="950" dirty="0"/>
          </a:p>
        </p:txBody>
      </p:sp>
      <p:sp>
        <p:nvSpPr>
          <p:cNvPr id="12" name="Shape 9"/>
          <p:cNvSpPr/>
          <p:nvPr/>
        </p:nvSpPr>
        <p:spPr>
          <a:xfrm>
            <a:off x="4725665" y="1459037"/>
            <a:ext cx="14288" cy="712068"/>
          </a:xfrm>
          <a:prstGeom prst="roundRect">
            <a:avLst>
              <a:gd name="adj" fmla="val 59998"/>
            </a:avLst>
          </a:prstGeom>
          <a:solidFill>
            <a:srgbClr val="505468"/>
          </a:solidFill>
          <a:ln/>
        </p:spPr>
      </p:sp>
      <p:sp>
        <p:nvSpPr>
          <p:cNvPr id="13" name="Text 10"/>
          <p:cNvSpPr/>
          <p:nvPr/>
        </p:nvSpPr>
        <p:spPr>
          <a:xfrm>
            <a:off x="4725665" y="2306315"/>
            <a:ext cx="3926979" cy="387697"/>
          </a:xfrm>
          <a:prstGeom prst="rect">
            <a:avLst/>
          </a:prstGeom>
          <a:noFill/>
          <a:ln/>
        </p:spPr>
        <p:txBody>
          <a:bodyPr wrap="square" lIns="0" tIns="0" rIns="0" bIns="0" rtlCol="0" anchor="t">
            <a:normAutofit/>
          </a:bodyPr>
          <a:lstStyle/>
          <a:p>
            <a:pPr algn="l" indent="0" marL="0">
              <a:lnSpc>
                <a:spcPct val="132000"/>
              </a:lnSpc>
              <a:buNone/>
            </a:pPr>
            <a:r>
              <a:rPr lang="en-US" sz="950" dirty="0">
                <a:solidFill>
                  <a:srgbClr val="5B5F71"/>
                </a:solidFill>
                <a:latin typeface="Instrument Sans Medium" pitchFamily="34" charset="0"/>
                <a:ea typeface="Instrument Sans Medium" pitchFamily="34" charset="-122"/>
                <a:cs typeface="Instrument Sans Medium" pitchFamily="34" charset="-120"/>
              </a:rPr>
              <a:t>The browser may show a live preview, but the backend calculates and stores the final authoritative amount.</a:t>
            </a:r>
            <a:endParaRPr lang="en-US" sz="950" dirty="0"/>
          </a:p>
        </p:txBody>
      </p:sp>
      <p:sp>
        <p:nvSpPr>
          <p:cNvPr id="14" name="Text 11"/>
          <p:cNvSpPr/>
          <p:nvPr/>
        </p:nvSpPr>
        <p:spPr>
          <a:xfrm>
            <a:off x="4725665" y="2814191"/>
            <a:ext cx="3926979" cy="190723"/>
          </a:xfrm>
          <a:prstGeom prst="rect">
            <a:avLst/>
          </a:prstGeom>
          <a:noFill/>
          <a:ln/>
        </p:spPr>
        <p:txBody>
          <a:bodyPr wrap="none" lIns="0" tIns="0" rIns="0" bIns="0" rtlCol="0" anchor="t"/>
          <a:lstStyle/>
          <a:p>
            <a:pPr algn="l" indent="0" marL="0">
              <a:lnSpc>
                <a:spcPct val="104000"/>
              </a:lnSpc>
              <a:buNone/>
            </a:pPr>
            <a:r>
              <a:rPr lang="en-US" sz="1200" dirty="0">
                <a:solidFill>
                  <a:srgbClr val="505468"/>
                </a:solidFill>
                <a:latin typeface="Instrument Sans SemiBold" pitchFamily="34" charset="0"/>
                <a:ea typeface="Instrument Sans SemiBold" pitchFamily="34" charset="-122"/>
                <a:cs typeface="Instrument Sans SemiBold" pitchFamily="34" charset="-120"/>
              </a:rPr>
              <a:t>Prediction Logic</a:t>
            </a:r>
            <a:endParaRPr lang="en-US" sz="1200" dirty="0"/>
          </a:p>
        </p:txBody>
      </p:sp>
      <p:sp>
        <p:nvSpPr>
          <p:cNvPr id="15" name="Text 12"/>
          <p:cNvSpPr/>
          <p:nvPr/>
        </p:nvSpPr>
        <p:spPr>
          <a:xfrm>
            <a:off x="4725665" y="3125093"/>
            <a:ext cx="3926979" cy="1525116"/>
          </a:xfrm>
          <a:prstGeom prst="rect">
            <a:avLst/>
          </a:prstGeom>
          <a:noFill/>
          <a:ln/>
        </p:spPr>
        <p:txBody>
          <a:bodyPr wrap="square" lIns="0" tIns="0" rIns="0" bIns="0" rtlCol="0" anchor="t">
            <a:normAutofit/>
          </a:bodyPr>
          <a:lstStyle/>
          <a:p>
            <a:pPr algn="l" marL="193040" indent="-193040">
              <a:lnSpc>
                <a:spcPct val="132000"/>
              </a:lnSpc>
              <a:buSzPct val="100000"/>
              <a:buChar char="•"/>
            </a:pPr>
            <a:r>
              <a:rPr lang="en-US" sz="950" dirty="0">
                <a:solidFill>
                  <a:srgbClr val="5B5F71"/>
                </a:solidFill>
                <a:latin typeface="Instrument Sans Medium" pitchFamily="34" charset="0"/>
                <a:ea typeface="Instrument Sans Medium" pitchFamily="34" charset="-122"/>
                <a:cs typeface="Instrument Sans Medium" pitchFamily="34" charset="-120"/>
              </a:rPr>
              <a:t>Model predicts whether the collection may need manual attention</a:t>
            </a:r>
            <a:endParaRPr lang="en-US" sz="950" dirty="0"/>
          </a:p>
          <a:p>
            <a:pPr algn="l" marL="193040" indent="-193040">
              <a:lnSpc>
                <a:spcPct val="132000"/>
              </a:lnSpc>
              <a:buSzPct val="100000"/>
              <a:buChar char="•"/>
            </a:pPr>
            <a:r>
              <a:rPr lang="en-US" sz="950" dirty="0">
                <a:solidFill>
                  <a:srgbClr val="5B5F71"/>
                </a:solidFill>
                <a:latin typeface="Instrument Sans Medium" pitchFamily="34" charset="0"/>
                <a:ea typeface="Instrument Sans Medium" pitchFamily="34" charset="-122"/>
                <a:cs typeface="Instrument Sans Medium" pitchFamily="34" charset="-120"/>
              </a:rPr>
              <a:t>Uses only information available at the time of collection — no future data</a:t>
            </a:r>
            <a:endParaRPr lang="en-US" sz="950" dirty="0"/>
          </a:p>
          <a:p>
            <a:pPr algn="l" marL="193040" indent="-193040">
              <a:lnSpc>
                <a:spcPct val="132000"/>
              </a:lnSpc>
              <a:buSzPct val="100000"/>
              <a:buChar char="•"/>
            </a:pPr>
            <a:r>
              <a:rPr lang="en-US" sz="950" dirty="0">
                <a:solidFill>
                  <a:srgbClr val="5B5F71"/>
                </a:solidFill>
                <a:latin typeface="Instrument Sans Medium" pitchFamily="34" charset="0"/>
                <a:ea typeface="Instrument Sans Medium" pitchFamily="34" charset="-122"/>
                <a:cs typeface="Instrument Sans Medium" pitchFamily="34" charset="-120"/>
              </a:rPr>
              <a:t>If confidence ≥ 65%: shows risk band and probability</a:t>
            </a:r>
            <a:endParaRPr lang="en-US" sz="950" dirty="0"/>
          </a:p>
          <a:p>
            <a:pPr algn="l" marL="193040" indent="-193040">
              <a:lnSpc>
                <a:spcPct val="132000"/>
              </a:lnSpc>
              <a:buSzPct val="100000"/>
              <a:buChar char="•"/>
            </a:pPr>
            <a:r>
              <a:rPr lang="en-US" sz="950" dirty="0">
                <a:solidFill>
                  <a:srgbClr val="5B5F71"/>
                </a:solidFill>
                <a:latin typeface="Instrument Sans Medium" pitchFamily="34" charset="0"/>
                <a:ea typeface="Instrument Sans Medium" pitchFamily="34" charset="-122"/>
                <a:cs typeface="Instrument Sans Medium" pitchFamily="34" charset="-120"/>
              </a:rPr>
              <a:t>If confidence &lt; 65%: displays "No confident prediction — review normally"</a:t>
            </a:r>
            <a:endParaRPr lang="en-US" sz="950" dirty="0"/>
          </a:p>
          <a:p>
            <a:pPr algn="l" marL="193040" indent="-193040">
              <a:lnSpc>
                <a:spcPct val="132000"/>
              </a:lnSpc>
              <a:buSzPct val="100000"/>
              <a:buChar char="•"/>
            </a:pPr>
            <a:r>
              <a:rPr lang="en-US" sz="950" dirty="0">
                <a:solidFill>
                  <a:srgbClr val="5B5F71"/>
                </a:solidFill>
                <a:latin typeface="Instrument Sans Medium" pitchFamily="34" charset="0"/>
                <a:ea typeface="Instrument Sans Medium" pitchFamily="34" charset="-122"/>
                <a:cs typeface="Instrument Sans Medium" pitchFamily="34" charset="-120"/>
              </a:rPr>
              <a:t>The secretary makes the final decision</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96119" y="420886"/>
            <a:ext cx="8151763" cy="387548"/>
          </a:xfrm>
          <a:prstGeom prst="rect">
            <a:avLst/>
          </a:prstGeom>
          <a:noFill/>
          <a:ln/>
        </p:spPr>
        <p:txBody>
          <a:bodyPr wrap="none" lIns="0" tIns="0" rIns="0" bIns="0" rtlCol="0" anchor="t"/>
          <a:lstStyle/>
          <a:p>
            <a:pPr algn="l" indent="0" marL="0">
              <a:lnSpc>
                <a:spcPct val="104000"/>
              </a:lnSpc>
              <a:buNone/>
            </a:pPr>
            <a:r>
              <a:rPr lang="en-US" sz="2400" dirty="0">
                <a:solidFill>
                  <a:srgbClr val="505468"/>
                </a:solidFill>
                <a:latin typeface="Instrument Sans SemiBold" pitchFamily="34" charset="0"/>
                <a:ea typeface="Instrument Sans SemiBold" pitchFamily="34" charset="-122"/>
                <a:cs typeface="Instrument Sans SemiBold" pitchFamily="34" charset="-120"/>
              </a:rPr>
              <a:t>More Transparency, Faster Review and Greater Trust</a:t>
            </a:r>
            <a:endParaRPr lang="en-US" sz="2400" dirty="0"/>
          </a:p>
        </p:txBody>
      </p:sp>
      <p:sp>
        <p:nvSpPr>
          <p:cNvPr id="3" name="Text 1"/>
          <p:cNvSpPr/>
          <p:nvPr/>
        </p:nvSpPr>
        <p:spPr>
          <a:xfrm>
            <a:off x="496119" y="1118443"/>
            <a:ext cx="3924598" cy="193849"/>
          </a:xfrm>
          <a:prstGeom prst="rect">
            <a:avLst/>
          </a:prstGeom>
          <a:noFill/>
          <a:ln/>
        </p:spPr>
        <p:txBody>
          <a:bodyPr wrap="none" lIns="0" tIns="0" rIns="0" bIns="0" rtlCol="0" anchor="t"/>
          <a:lstStyle/>
          <a:p>
            <a:pPr algn="l" indent="0" marL="0">
              <a:lnSpc>
                <a:spcPct val="104000"/>
              </a:lnSpc>
              <a:buNone/>
            </a:pPr>
            <a:r>
              <a:rPr lang="en-US" sz="1200" dirty="0">
                <a:solidFill>
                  <a:srgbClr val="505468"/>
                </a:solidFill>
                <a:latin typeface="Instrument Sans SemiBold" pitchFamily="34" charset="0"/>
                <a:ea typeface="Instrument Sans SemiBold" pitchFamily="34" charset="-122"/>
                <a:cs typeface="Instrument Sans SemiBold" pitchFamily="34" charset="-120"/>
              </a:rPr>
              <a:t>Benefits for Farmers</a:t>
            </a:r>
            <a:endParaRPr lang="en-US" sz="1200" dirty="0"/>
          </a:p>
        </p:txBody>
      </p:sp>
      <p:sp>
        <p:nvSpPr>
          <p:cNvPr id="4" name="Text 2"/>
          <p:cNvSpPr/>
          <p:nvPr/>
        </p:nvSpPr>
        <p:spPr>
          <a:xfrm>
            <a:off x="496119" y="1436266"/>
            <a:ext cx="3924598" cy="1165845"/>
          </a:xfrm>
          <a:prstGeom prst="rect">
            <a:avLst/>
          </a:prstGeom>
          <a:noFill/>
          <a:ln/>
        </p:spPr>
        <p:txBody>
          <a:bodyPr wrap="square" lIns="0" tIns="0" rIns="0" bIns="0" rtlCol="0" anchor="t">
            <a:normAutofit/>
          </a:bodyPr>
          <a:lstStyle/>
          <a:p>
            <a:pPr algn="l" marL="193040" indent="-193040">
              <a:lnSpc>
                <a:spcPct val="133000"/>
              </a:lnSpc>
              <a:buSzPct val="100000"/>
              <a:buChar char="•"/>
            </a:pPr>
            <a:r>
              <a:rPr lang="en-US" sz="950" dirty="0">
                <a:solidFill>
                  <a:srgbClr val="5B5F71"/>
                </a:solidFill>
                <a:latin typeface="Instrument Sans Medium" pitchFamily="34" charset="0"/>
                <a:ea typeface="Instrument Sans Medium" pitchFamily="34" charset="-122"/>
                <a:cs typeface="Instrument Sans Medium" pitchFamily="34" charset="-120"/>
              </a:rPr>
              <a:t>Immediate confirmation of quantity and rate</a:t>
            </a:r>
            <a:endParaRPr lang="en-US" sz="950" dirty="0"/>
          </a:p>
          <a:p>
            <a:pPr algn="l" marL="193040" indent="-193040">
              <a:lnSpc>
                <a:spcPct val="133000"/>
              </a:lnSpc>
              <a:buSzPct val="100000"/>
              <a:buChar char="•"/>
            </a:pPr>
            <a:r>
              <a:rPr lang="en-US" sz="950" dirty="0">
                <a:solidFill>
                  <a:srgbClr val="5B5F71"/>
                </a:solidFill>
                <a:latin typeface="Instrument Sans Medium" pitchFamily="34" charset="0"/>
                <a:ea typeface="Instrument Sans Medium" pitchFamily="34" charset="-122"/>
                <a:cs typeface="Instrument Sans Medium" pitchFamily="34" charset="-120"/>
              </a:rPr>
              <a:t>Clear receipt for every delivery</a:t>
            </a:r>
            <a:endParaRPr lang="en-US" sz="950" dirty="0"/>
          </a:p>
          <a:p>
            <a:pPr algn="l" marL="193040" indent="-193040">
              <a:lnSpc>
                <a:spcPct val="133000"/>
              </a:lnSpc>
              <a:buSzPct val="100000"/>
              <a:buChar char="•"/>
            </a:pPr>
            <a:r>
              <a:rPr lang="en-US" sz="950" dirty="0">
                <a:solidFill>
                  <a:srgbClr val="5B5F71"/>
                </a:solidFill>
                <a:latin typeface="Instrument Sans Medium" pitchFamily="34" charset="0"/>
                <a:ea typeface="Instrument Sans Medium" pitchFamily="34" charset="-122"/>
                <a:cs typeface="Instrument Sans Medium" pitchFamily="34" charset="-120"/>
              </a:rPr>
              <a:t>Transparent payment and balance statement</a:t>
            </a:r>
            <a:endParaRPr lang="en-US" sz="950" dirty="0"/>
          </a:p>
          <a:p>
            <a:pPr algn="l" marL="193040" indent="-193040">
              <a:lnSpc>
                <a:spcPct val="133000"/>
              </a:lnSpc>
              <a:buSzPct val="100000"/>
              <a:buChar char="•"/>
            </a:pPr>
            <a:r>
              <a:rPr lang="en-US" sz="950" dirty="0">
                <a:solidFill>
                  <a:srgbClr val="5B5F71"/>
                </a:solidFill>
                <a:latin typeface="Instrument Sans Medium" pitchFamily="34" charset="0"/>
                <a:ea typeface="Instrument Sans Medium" pitchFamily="34" charset="-122"/>
                <a:cs typeface="Instrument Sans Medium" pitchFamily="34" charset="-120"/>
              </a:rPr>
              <a:t>Easier resolution of disagreements</a:t>
            </a:r>
            <a:endParaRPr lang="en-US" sz="950" dirty="0"/>
          </a:p>
          <a:p>
            <a:pPr algn="l" marL="193040" indent="-193040">
              <a:lnSpc>
                <a:spcPct val="133000"/>
              </a:lnSpc>
              <a:buSzPct val="100000"/>
              <a:buChar char="•"/>
            </a:pPr>
            <a:r>
              <a:rPr lang="en-US" sz="950" dirty="0">
                <a:solidFill>
                  <a:srgbClr val="5B5F71"/>
                </a:solidFill>
                <a:latin typeface="Instrument Sans Medium" pitchFamily="34" charset="0"/>
                <a:ea typeface="Instrument Sans Medium" pitchFamily="34" charset="-122"/>
                <a:cs typeface="Instrument Sans Medium" pitchFamily="34" charset="-120"/>
              </a:rPr>
              <a:t>Greater confidence in the producer group</a:t>
            </a:r>
            <a:endParaRPr lang="en-US" sz="950" dirty="0"/>
          </a:p>
        </p:txBody>
      </p:sp>
      <p:sp>
        <p:nvSpPr>
          <p:cNvPr id="5" name="Text 3"/>
          <p:cNvSpPr/>
          <p:nvPr/>
        </p:nvSpPr>
        <p:spPr>
          <a:xfrm>
            <a:off x="496119" y="2726085"/>
            <a:ext cx="3924598" cy="193849"/>
          </a:xfrm>
          <a:prstGeom prst="rect">
            <a:avLst/>
          </a:prstGeom>
          <a:noFill/>
          <a:ln/>
        </p:spPr>
        <p:txBody>
          <a:bodyPr wrap="none" lIns="0" tIns="0" rIns="0" bIns="0" rtlCol="0" anchor="t"/>
          <a:lstStyle/>
          <a:p>
            <a:pPr algn="l" indent="0" marL="0">
              <a:lnSpc>
                <a:spcPct val="104000"/>
              </a:lnSpc>
              <a:buNone/>
            </a:pPr>
            <a:r>
              <a:rPr lang="en-US" sz="1200" dirty="0">
                <a:solidFill>
                  <a:srgbClr val="505468"/>
                </a:solidFill>
                <a:latin typeface="Instrument Sans SemiBold" pitchFamily="34" charset="0"/>
                <a:ea typeface="Instrument Sans SemiBold" pitchFamily="34" charset="-122"/>
                <a:cs typeface="Instrument Sans SemiBold" pitchFamily="34" charset="-120"/>
              </a:rPr>
              <a:t>Benefits for the Producer Group</a:t>
            </a:r>
            <a:endParaRPr lang="en-US" sz="1200" dirty="0"/>
          </a:p>
        </p:txBody>
      </p:sp>
      <p:sp>
        <p:nvSpPr>
          <p:cNvPr id="6" name="Text 4"/>
          <p:cNvSpPr/>
          <p:nvPr/>
        </p:nvSpPr>
        <p:spPr>
          <a:xfrm>
            <a:off x="496119" y="3043907"/>
            <a:ext cx="3924598" cy="1165845"/>
          </a:xfrm>
          <a:prstGeom prst="rect">
            <a:avLst/>
          </a:prstGeom>
          <a:noFill/>
          <a:ln/>
        </p:spPr>
        <p:txBody>
          <a:bodyPr wrap="square" lIns="0" tIns="0" rIns="0" bIns="0" rtlCol="0" anchor="t">
            <a:normAutofit/>
          </a:bodyPr>
          <a:lstStyle/>
          <a:p>
            <a:pPr algn="l" marL="193040" indent="-193040">
              <a:lnSpc>
                <a:spcPct val="133000"/>
              </a:lnSpc>
              <a:buSzPct val="100000"/>
              <a:buChar char="•"/>
            </a:pPr>
            <a:r>
              <a:rPr lang="en-US" sz="950" dirty="0">
                <a:solidFill>
                  <a:srgbClr val="5B5F71"/>
                </a:solidFill>
                <a:latin typeface="Instrument Sans Medium" pitchFamily="34" charset="0"/>
                <a:ea typeface="Instrument Sans Medium" pitchFamily="34" charset="-122"/>
                <a:cs typeface="Instrument Sans Medium" pitchFamily="34" charset="-120"/>
              </a:rPr>
              <a:t>Fewer manual calculation errors</a:t>
            </a:r>
            <a:endParaRPr lang="en-US" sz="950" dirty="0"/>
          </a:p>
          <a:p>
            <a:pPr algn="l" marL="193040" indent="-193040">
              <a:lnSpc>
                <a:spcPct val="133000"/>
              </a:lnSpc>
              <a:buSzPct val="100000"/>
              <a:buChar char="•"/>
            </a:pPr>
            <a:r>
              <a:rPr lang="en-US" sz="950" dirty="0">
                <a:solidFill>
                  <a:srgbClr val="5B5F71"/>
                </a:solidFill>
                <a:latin typeface="Instrument Sans Medium" pitchFamily="34" charset="0"/>
                <a:ea typeface="Instrument Sans Medium" pitchFamily="34" charset="-122"/>
                <a:cs typeface="Instrument Sans Medium" pitchFamily="34" charset="-120"/>
              </a:rPr>
              <a:t>Faster collection and payment processing</a:t>
            </a:r>
            <a:endParaRPr lang="en-US" sz="950" dirty="0"/>
          </a:p>
          <a:p>
            <a:pPr algn="l" marL="193040" indent="-193040">
              <a:lnSpc>
                <a:spcPct val="133000"/>
              </a:lnSpc>
              <a:buSzPct val="100000"/>
              <a:buChar char="•"/>
            </a:pPr>
            <a:r>
              <a:rPr lang="en-US" sz="950" dirty="0">
                <a:solidFill>
                  <a:srgbClr val="5B5F71"/>
                </a:solidFill>
                <a:latin typeface="Instrument Sans Medium" pitchFamily="34" charset="0"/>
                <a:ea typeface="Instrument Sans Medium" pitchFamily="34" charset="-122"/>
                <a:cs typeface="Instrument Sans Medium" pitchFamily="34" charset="-120"/>
              </a:rPr>
              <a:t>Searchable records instead of paper bundles</a:t>
            </a:r>
            <a:endParaRPr lang="en-US" sz="950" dirty="0"/>
          </a:p>
          <a:p>
            <a:pPr algn="l" marL="193040" indent="-193040">
              <a:lnSpc>
                <a:spcPct val="133000"/>
              </a:lnSpc>
              <a:buSzPct val="100000"/>
              <a:buChar char="•"/>
            </a:pPr>
            <a:r>
              <a:rPr lang="en-US" sz="950" dirty="0">
                <a:solidFill>
                  <a:srgbClr val="5B5F71"/>
                </a:solidFill>
                <a:latin typeface="Instrument Sans Medium" pitchFamily="34" charset="0"/>
                <a:ea typeface="Instrument Sans Medium" pitchFamily="34" charset="-122"/>
                <a:cs typeface="Instrument Sans Medium" pitchFamily="34" charset="-120"/>
              </a:rPr>
              <a:t>Clear responsibility and audit history</a:t>
            </a:r>
            <a:endParaRPr lang="en-US" sz="950" dirty="0"/>
          </a:p>
          <a:p>
            <a:pPr algn="l" marL="193040" indent="-193040">
              <a:lnSpc>
                <a:spcPct val="133000"/>
              </a:lnSpc>
              <a:buSzPct val="100000"/>
              <a:buChar char="•"/>
            </a:pPr>
            <a:r>
              <a:rPr lang="en-US" sz="950" dirty="0">
                <a:solidFill>
                  <a:srgbClr val="5B5F71"/>
                </a:solidFill>
                <a:latin typeface="Instrument Sans Medium" pitchFamily="34" charset="0"/>
                <a:ea typeface="Instrument Sans Medium" pitchFamily="34" charset="-122"/>
                <a:cs typeface="Instrument Sans Medium" pitchFamily="34" charset="-120"/>
              </a:rPr>
              <a:t>Attention cases automatically prioritised</a:t>
            </a:r>
            <a:endParaRPr lang="en-US" sz="950" dirty="0"/>
          </a:p>
        </p:txBody>
      </p:sp>
      <p:sp>
        <p:nvSpPr>
          <p:cNvPr id="7" name="Text 5"/>
          <p:cNvSpPr/>
          <p:nvPr/>
        </p:nvSpPr>
        <p:spPr>
          <a:xfrm>
            <a:off x="4728046" y="1118443"/>
            <a:ext cx="3924598" cy="193849"/>
          </a:xfrm>
          <a:prstGeom prst="rect">
            <a:avLst/>
          </a:prstGeom>
          <a:noFill/>
          <a:ln/>
        </p:spPr>
        <p:txBody>
          <a:bodyPr wrap="none" lIns="0" tIns="0" rIns="0" bIns="0" rtlCol="0" anchor="t"/>
          <a:lstStyle/>
          <a:p>
            <a:pPr algn="l" indent="0" marL="0">
              <a:lnSpc>
                <a:spcPct val="104000"/>
              </a:lnSpc>
              <a:buNone/>
            </a:pPr>
            <a:r>
              <a:rPr lang="en-US" sz="1200" dirty="0">
                <a:solidFill>
                  <a:srgbClr val="505468"/>
                </a:solidFill>
                <a:latin typeface="Instrument Sans SemiBold" pitchFamily="34" charset="0"/>
                <a:ea typeface="Instrument Sans SemiBold" pitchFamily="34" charset="-122"/>
                <a:cs typeface="Instrument Sans SemiBold" pitchFamily="34" charset="-120"/>
              </a:rPr>
              <a:t>Expected Operational Impact</a:t>
            </a:r>
            <a:endParaRPr lang="en-US" sz="1200" dirty="0"/>
          </a:p>
        </p:txBody>
      </p:sp>
      <p:sp>
        <p:nvSpPr>
          <p:cNvPr id="8" name="Shape 6"/>
          <p:cNvSpPr/>
          <p:nvPr/>
        </p:nvSpPr>
        <p:spPr>
          <a:xfrm>
            <a:off x="4728046" y="1451818"/>
            <a:ext cx="3924598" cy="3131195"/>
          </a:xfrm>
          <a:prstGeom prst="roundRect">
            <a:avLst>
              <a:gd name="adj" fmla="val 1664"/>
            </a:avLst>
          </a:prstGeom>
          <a:noFill/>
          <a:ln w="4763">
            <a:solidFill>
              <a:srgbClr val="000000">
                <a:alpha val="8000"/>
              </a:srgbClr>
            </a:solidFill>
            <a:prstDash val="solid"/>
          </a:ln>
        </p:spPr>
      </p:sp>
      <p:sp>
        <p:nvSpPr>
          <p:cNvPr id="9" name="Shape 7"/>
          <p:cNvSpPr/>
          <p:nvPr/>
        </p:nvSpPr>
        <p:spPr>
          <a:xfrm>
            <a:off x="4728046" y="1815778"/>
            <a:ext cx="3924598" cy="7753"/>
          </a:xfrm>
          <a:prstGeom prst="rect">
            <a:avLst/>
          </a:prstGeom>
          <a:solidFill>
            <a:srgbClr val="000000">
              <a:alpha val="8000"/>
            </a:srgbClr>
          </a:solidFill>
          <a:ln/>
        </p:spPr>
      </p:sp>
      <p:sp>
        <p:nvSpPr>
          <p:cNvPr id="10" name="Shape 8"/>
          <p:cNvSpPr/>
          <p:nvPr/>
        </p:nvSpPr>
        <p:spPr>
          <a:xfrm>
            <a:off x="4728046" y="2177355"/>
            <a:ext cx="3924598" cy="7753"/>
          </a:xfrm>
          <a:prstGeom prst="rect">
            <a:avLst/>
          </a:prstGeom>
          <a:solidFill>
            <a:srgbClr val="000000">
              <a:alpha val="8000"/>
            </a:srgbClr>
          </a:solidFill>
          <a:ln/>
        </p:spPr>
      </p:sp>
      <p:sp>
        <p:nvSpPr>
          <p:cNvPr id="11" name="Shape 9"/>
          <p:cNvSpPr/>
          <p:nvPr/>
        </p:nvSpPr>
        <p:spPr>
          <a:xfrm>
            <a:off x="4728046" y="2737396"/>
            <a:ext cx="3924598" cy="7753"/>
          </a:xfrm>
          <a:prstGeom prst="rect">
            <a:avLst/>
          </a:prstGeom>
          <a:solidFill>
            <a:srgbClr val="000000">
              <a:alpha val="8000"/>
            </a:srgbClr>
          </a:solidFill>
          <a:ln/>
        </p:spPr>
      </p:sp>
      <p:sp>
        <p:nvSpPr>
          <p:cNvPr id="12" name="Shape 10"/>
          <p:cNvSpPr/>
          <p:nvPr/>
        </p:nvSpPr>
        <p:spPr>
          <a:xfrm>
            <a:off x="4728046" y="3297436"/>
            <a:ext cx="3924598" cy="7753"/>
          </a:xfrm>
          <a:prstGeom prst="rect">
            <a:avLst/>
          </a:prstGeom>
          <a:solidFill>
            <a:srgbClr val="000000">
              <a:alpha val="8000"/>
            </a:srgbClr>
          </a:solidFill>
          <a:ln/>
        </p:spPr>
      </p:sp>
      <p:sp>
        <p:nvSpPr>
          <p:cNvPr id="13" name="Shape 11"/>
          <p:cNvSpPr/>
          <p:nvPr/>
        </p:nvSpPr>
        <p:spPr>
          <a:xfrm>
            <a:off x="4728046" y="3857476"/>
            <a:ext cx="3924598" cy="7753"/>
          </a:xfrm>
          <a:prstGeom prst="rect">
            <a:avLst/>
          </a:prstGeom>
          <a:solidFill>
            <a:srgbClr val="000000">
              <a:alpha val="8000"/>
            </a:srgbClr>
          </a:solidFill>
          <a:ln/>
        </p:spPr>
      </p:sp>
      <p:sp>
        <p:nvSpPr>
          <p:cNvPr id="14" name="Shape 12"/>
          <p:cNvSpPr/>
          <p:nvPr/>
        </p:nvSpPr>
        <p:spPr>
          <a:xfrm>
            <a:off x="4728046" y="4219054"/>
            <a:ext cx="3924598" cy="7753"/>
          </a:xfrm>
          <a:prstGeom prst="rect">
            <a:avLst/>
          </a:prstGeom>
          <a:solidFill>
            <a:srgbClr val="000000">
              <a:alpha val="8000"/>
            </a:srgbClr>
          </a:solidFill>
          <a:ln/>
        </p:spPr>
      </p:sp>
      <p:sp>
        <p:nvSpPr>
          <p:cNvPr id="15" name="Shape 13"/>
          <p:cNvSpPr/>
          <p:nvPr/>
        </p:nvSpPr>
        <p:spPr>
          <a:xfrm>
            <a:off x="4732883" y="1456581"/>
            <a:ext cx="1370261" cy="359197"/>
          </a:xfrm>
          <a:prstGeom prst="rect">
            <a:avLst/>
          </a:prstGeom>
          <a:solidFill>
            <a:srgbClr val="505468"/>
          </a:solidFill>
          <a:ln/>
        </p:spPr>
      </p:sp>
      <p:sp>
        <p:nvSpPr>
          <p:cNvPr id="16" name="Text 14"/>
          <p:cNvSpPr/>
          <p:nvPr/>
        </p:nvSpPr>
        <p:spPr>
          <a:xfrm>
            <a:off x="4856857" y="1535757"/>
            <a:ext cx="1579513" cy="198462"/>
          </a:xfrm>
          <a:prstGeom prst="rect">
            <a:avLst/>
          </a:prstGeom>
          <a:noFill/>
          <a:ln/>
        </p:spPr>
        <p:txBody>
          <a:bodyPr wrap="none" lIns="0" tIns="0" rIns="0" bIns="0" rtlCol="0" anchor="t"/>
          <a:lstStyle/>
          <a:p>
            <a:pPr algn="l" indent="0" marL="0">
              <a:lnSpc>
                <a:spcPct val="133000"/>
              </a:lnSpc>
              <a:buNone/>
            </a:pPr>
            <a:r>
              <a:rPr lang="en-US" sz="950" b="1" dirty="0">
                <a:solidFill>
                  <a:srgbClr val="FFFFFF"/>
                </a:solidFill>
                <a:latin typeface="Instrument Sans Bold" pitchFamily="34" charset="0"/>
                <a:ea typeface="Instrument Sans Bold" pitchFamily="34" charset="-122"/>
                <a:cs typeface="Instrument Sans Bold" pitchFamily="34" charset="-120"/>
              </a:rPr>
              <a:t>Area</a:t>
            </a:r>
            <a:endParaRPr lang="en-US" sz="950" dirty="0"/>
          </a:p>
        </p:txBody>
      </p:sp>
      <p:sp>
        <p:nvSpPr>
          <p:cNvPr id="17" name="Shape 15"/>
          <p:cNvSpPr/>
          <p:nvPr/>
        </p:nvSpPr>
        <p:spPr>
          <a:xfrm>
            <a:off x="6103144" y="1456581"/>
            <a:ext cx="2544738" cy="359197"/>
          </a:xfrm>
          <a:prstGeom prst="rect">
            <a:avLst/>
          </a:prstGeom>
          <a:solidFill>
            <a:srgbClr val="505468"/>
          </a:solidFill>
          <a:ln/>
        </p:spPr>
      </p:sp>
      <p:sp>
        <p:nvSpPr>
          <p:cNvPr id="18" name="Text 16"/>
          <p:cNvSpPr/>
          <p:nvPr/>
        </p:nvSpPr>
        <p:spPr>
          <a:xfrm>
            <a:off x="6227118" y="1535757"/>
            <a:ext cx="2753990" cy="198462"/>
          </a:xfrm>
          <a:prstGeom prst="rect">
            <a:avLst/>
          </a:prstGeom>
          <a:noFill/>
          <a:ln/>
        </p:spPr>
        <p:txBody>
          <a:bodyPr wrap="none" lIns="0" tIns="0" rIns="0" bIns="0" rtlCol="0" anchor="t"/>
          <a:lstStyle/>
          <a:p>
            <a:pPr algn="l" indent="0" marL="0">
              <a:lnSpc>
                <a:spcPct val="133000"/>
              </a:lnSpc>
              <a:buNone/>
            </a:pPr>
            <a:r>
              <a:rPr lang="en-US" sz="950" b="1" dirty="0">
                <a:solidFill>
                  <a:srgbClr val="FFFFFF"/>
                </a:solidFill>
                <a:latin typeface="Instrument Sans Bold" pitchFamily="34" charset="0"/>
                <a:ea typeface="Instrument Sans Bold" pitchFamily="34" charset="-122"/>
                <a:cs typeface="Instrument Sans Bold" pitchFamily="34" charset="-120"/>
              </a:rPr>
              <a:t>Expected Improvement</a:t>
            </a:r>
            <a:endParaRPr lang="en-US" sz="950" dirty="0"/>
          </a:p>
        </p:txBody>
      </p:sp>
      <p:sp>
        <p:nvSpPr>
          <p:cNvPr id="19" name="Text 17"/>
          <p:cNvSpPr/>
          <p:nvPr/>
        </p:nvSpPr>
        <p:spPr>
          <a:xfrm>
            <a:off x="4856857" y="1897335"/>
            <a:ext cx="1579513" cy="198462"/>
          </a:xfrm>
          <a:prstGeom prst="rect">
            <a:avLst/>
          </a:prstGeom>
          <a:noFill/>
          <a:ln/>
        </p:spPr>
        <p:txBody>
          <a:bodyPr wrap="none" lIns="0" tIns="0" rIns="0" bIns="0" rtlCol="0" anchor="t"/>
          <a:lstStyle/>
          <a:p>
            <a:pPr algn="l" indent="0" marL="0">
              <a:lnSpc>
                <a:spcPct val="133000"/>
              </a:lnSpc>
              <a:buNone/>
            </a:pPr>
            <a:r>
              <a:rPr lang="en-US" sz="950" dirty="0">
                <a:solidFill>
                  <a:srgbClr val="5B5F71"/>
                </a:solidFill>
                <a:latin typeface="Instrument Sans Medium" pitchFamily="34" charset="0"/>
                <a:ea typeface="Instrument Sans Medium" pitchFamily="34" charset="-122"/>
                <a:cs typeface="Instrument Sans Medium" pitchFamily="34" charset="-120"/>
              </a:rPr>
              <a:t>Record accuracy</a:t>
            </a:r>
            <a:endParaRPr lang="en-US" sz="950" dirty="0"/>
          </a:p>
        </p:txBody>
      </p:sp>
      <p:sp>
        <p:nvSpPr>
          <p:cNvPr id="20" name="Text 18"/>
          <p:cNvSpPr/>
          <p:nvPr/>
        </p:nvSpPr>
        <p:spPr>
          <a:xfrm>
            <a:off x="6227118" y="1897335"/>
            <a:ext cx="2753990" cy="198462"/>
          </a:xfrm>
          <a:prstGeom prst="rect">
            <a:avLst/>
          </a:prstGeom>
          <a:noFill/>
          <a:ln/>
        </p:spPr>
        <p:txBody>
          <a:bodyPr wrap="none" lIns="0" tIns="0" rIns="0" bIns="0" rtlCol="0" anchor="t"/>
          <a:lstStyle/>
          <a:p>
            <a:pPr algn="l" indent="0" marL="0">
              <a:lnSpc>
                <a:spcPct val="133000"/>
              </a:lnSpc>
              <a:buNone/>
            </a:pPr>
            <a:r>
              <a:rPr lang="en-US" sz="950" dirty="0">
                <a:solidFill>
                  <a:srgbClr val="5B5F71"/>
                </a:solidFill>
                <a:latin typeface="Instrument Sans Medium" pitchFamily="34" charset="0"/>
                <a:ea typeface="Instrument Sans Medium" pitchFamily="34" charset="-122"/>
                <a:cs typeface="Instrument Sans Medium" pitchFamily="34" charset="-120"/>
              </a:rPr>
              <a:t>Server validation and structured fields</a:t>
            </a:r>
            <a:endParaRPr lang="en-US" sz="950" dirty="0"/>
          </a:p>
        </p:txBody>
      </p:sp>
      <p:sp>
        <p:nvSpPr>
          <p:cNvPr id="21" name="Text 19"/>
          <p:cNvSpPr/>
          <p:nvPr/>
        </p:nvSpPr>
        <p:spPr>
          <a:xfrm>
            <a:off x="4856857" y="2258913"/>
            <a:ext cx="1122313" cy="396925"/>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5B5F71"/>
                </a:solidFill>
                <a:latin typeface="Instrument Sans Medium" pitchFamily="34" charset="0"/>
                <a:ea typeface="Instrument Sans Medium" pitchFamily="34" charset="-122"/>
                <a:cs typeface="Instrument Sans Medium" pitchFamily="34" charset="-120"/>
              </a:rPr>
              <a:t>Calculation consistency</a:t>
            </a:r>
            <a:endParaRPr lang="en-US" sz="950" dirty="0"/>
          </a:p>
        </p:txBody>
      </p:sp>
      <p:sp>
        <p:nvSpPr>
          <p:cNvPr id="22" name="Text 20"/>
          <p:cNvSpPr/>
          <p:nvPr/>
        </p:nvSpPr>
        <p:spPr>
          <a:xfrm>
            <a:off x="6227118" y="2258913"/>
            <a:ext cx="2753990" cy="198462"/>
          </a:xfrm>
          <a:prstGeom prst="rect">
            <a:avLst/>
          </a:prstGeom>
          <a:noFill/>
          <a:ln/>
        </p:spPr>
        <p:txBody>
          <a:bodyPr wrap="none" lIns="0" tIns="0" rIns="0" bIns="0" rtlCol="0" anchor="t"/>
          <a:lstStyle/>
          <a:p>
            <a:pPr algn="l" indent="0" marL="0">
              <a:lnSpc>
                <a:spcPct val="133000"/>
              </a:lnSpc>
              <a:buNone/>
            </a:pPr>
            <a:r>
              <a:rPr lang="en-US" sz="950" dirty="0">
                <a:solidFill>
                  <a:srgbClr val="5B5F71"/>
                </a:solidFill>
                <a:latin typeface="Instrument Sans Medium" pitchFamily="34" charset="0"/>
                <a:ea typeface="Instrument Sans Medium" pitchFamily="34" charset="-122"/>
                <a:cs typeface="Instrument Sans Medium" pitchFamily="34" charset="-120"/>
              </a:rPr>
              <a:t>One backend calculation for every user</a:t>
            </a:r>
            <a:endParaRPr lang="en-US" sz="950" dirty="0"/>
          </a:p>
        </p:txBody>
      </p:sp>
      <p:sp>
        <p:nvSpPr>
          <p:cNvPr id="23" name="Text 21"/>
          <p:cNvSpPr/>
          <p:nvPr/>
        </p:nvSpPr>
        <p:spPr>
          <a:xfrm>
            <a:off x="4856857" y="2818954"/>
            <a:ext cx="1122313" cy="396925"/>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5B5F71"/>
                </a:solidFill>
                <a:latin typeface="Instrument Sans Medium" pitchFamily="34" charset="0"/>
                <a:ea typeface="Instrument Sans Medium" pitchFamily="34" charset="-122"/>
                <a:cs typeface="Instrument Sans Medium" pitchFamily="34" charset="-120"/>
              </a:rPr>
              <a:t>Payment transparency</a:t>
            </a:r>
            <a:endParaRPr lang="en-US" sz="950" dirty="0"/>
          </a:p>
        </p:txBody>
      </p:sp>
      <p:sp>
        <p:nvSpPr>
          <p:cNvPr id="24" name="Text 22"/>
          <p:cNvSpPr/>
          <p:nvPr/>
        </p:nvSpPr>
        <p:spPr>
          <a:xfrm>
            <a:off x="6227118" y="2818954"/>
            <a:ext cx="2296790" cy="396925"/>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5B5F71"/>
                </a:solidFill>
                <a:latin typeface="Instrument Sans Medium" pitchFamily="34" charset="0"/>
                <a:ea typeface="Instrument Sans Medium" pitchFamily="34" charset="-122"/>
                <a:cs typeface="Instrument Sans Medium" pitchFamily="34" charset="-120"/>
              </a:rPr>
              <a:t>Delivery, payment, and balance shown together</a:t>
            </a:r>
            <a:endParaRPr lang="en-US" sz="950" dirty="0"/>
          </a:p>
        </p:txBody>
      </p:sp>
      <p:sp>
        <p:nvSpPr>
          <p:cNvPr id="25" name="Text 23"/>
          <p:cNvSpPr/>
          <p:nvPr/>
        </p:nvSpPr>
        <p:spPr>
          <a:xfrm>
            <a:off x="4856857" y="3378994"/>
            <a:ext cx="1579513" cy="198462"/>
          </a:xfrm>
          <a:prstGeom prst="rect">
            <a:avLst/>
          </a:prstGeom>
          <a:noFill/>
          <a:ln/>
        </p:spPr>
        <p:txBody>
          <a:bodyPr wrap="none" lIns="0" tIns="0" rIns="0" bIns="0" rtlCol="0" anchor="t"/>
          <a:lstStyle/>
          <a:p>
            <a:pPr algn="l" indent="0" marL="0">
              <a:lnSpc>
                <a:spcPct val="133000"/>
              </a:lnSpc>
              <a:buNone/>
            </a:pPr>
            <a:r>
              <a:rPr lang="en-US" sz="950" dirty="0">
                <a:solidFill>
                  <a:srgbClr val="5B5F71"/>
                </a:solidFill>
                <a:latin typeface="Instrument Sans Medium" pitchFamily="34" charset="0"/>
                <a:ea typeface="Instrument Sans Medium" pitchFamily="34" charset="-122"/>
                <a:cs typeface="Instrument Sans Medium" pitchFamily="34" charset="-120"/>
              </a:rPr>
              <a:t>Dispute handling</a:t>
            </a:r>
            <a:endParaRPr lang="en-US" sz="950" dirty="0"/>
          </a:p>
        </p:txBody>
      </p:sp>
      <p:sp>
        <p:nvSpPr>
          <p:cNvPr id="26" name="Text 24"/>
          <p:cNvSpPr/>
          <p:nvPr/>
        </p:nvSpPr>
        <p:spPr>
          <a:xfrm>
            <a:off x="6227118" y="3378994"/>
            <a:ext cx="2296790" cy="396925"/>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5B5F71"/>
                </a:solidFill>
                <a:latin typeface="Instrument Sans Medium" pitchFamily="34" charset="0"/>
                <a:ea typeface="Instrument Sans Medium" pitchFamily="34" charset="-122"/>
                <a:cs typeface="Instrument Sans Medium" pitchFamily="34" charset="-120"/>
              </a:rPr>
              <a:t>Receipt, timeline, and audit evidence available</a:t>
            </a:r>
            <a:endParaRPr lang="en-US" sz="950" dirty="0"/>
          </a:p>
        </p:txBody>
      </p:sp>
      <p:sp>
        <p:nvSpPr>
          <p:cNvPr id="27" name="Text 25"/>
          <p:cNvSpPr/>
          <p:nvPr/>
        </p:nvSpPr>
        <p:spPr>
          <a:xfrm>
            <a:off x="4856857" y="3939034"/>
            <a:ext cx="1579513" cy="198462"/>
          </a:xfrm>
          <a:prstGeom prst="rect">
            <a:avLst/>
          </a:prstGeom>
          <a:noFill/>
          <a:ln/>
        </p:spPr>
        <p:txBody>
          <a:bodyPr wrap="none" lIns="0" tIns="0" rIns="0" bIns="0" rtlCol="0" anchor="t"/>
          <a:lstStyle/>
          <a:p>
            <a:pPr algn="l" indent="0" marL="0">
              <a:lnSpc>
                <a:spcPct val="133000"/>
              </a:lnSpc>
              <a:buNone/>
            </a:pPr>
            <a:r>
              <a:rPr lang="en-US" sz="950" dirty="0">
                <a:solidFill>
                  <a:srgbClr val="5B5F71"/>
                </a:solidFill>
                <a:latin typeface="Instrument Sans Medium" pitchFamily="34" charset="0"/>
                <a:ea typeface="Instrument Sans Medium" pitchFamily="34" charset="-122"/>
                <a:cs typeface="Instrument Sans Medium" pitchFamily="34" charset="-120"/>
              </a:rPr>
              <a:t>Secretary workload</a:t>
            </a:r>
            <a:endParaRPr lang="en-US" sz="950" dirty="0"/>
          </a:p>
        </p:txBody>
      </p:sp>
      <p:sp>
        <p:nvSpPr>
          <p:cNvPr id="28" name="Text 26"/>
          <p:cNvSpPr/>
          <p:nvPr/>
        </p:nvSpPr>
        <p:spPr>
          <a:xfrm>
            <a:off x="6227118" y="3939034"/>
            <a:ext cx="2753990" cy="198462"/>
          </a:xfrm>
          <a:prstGeom prst="rect">
            <a:avLst/>
          </a:prstGeom>
          <a:noFill/>
          <a:ln/>
        </p:spPr>
        <p:txBody>
          <a:bodyPr wrap="none" lIns="0" tIns="0" rIns="0" bIns="0" rtlCol="0" anchor="t"/>
          <a:lstStyle/>
          <a:p>
            <a:pPr algn="l" indent="0" marL="0">
              <a:lnSpc>
                <a:spcPct val="133000"/>
              </a:lnSpc>
              <a:buNone/>
            </a:pPr>
            <a:r>
              <a:rPr lang="en-US" sz="950" dirty="0">
                <a:solidFill>
                  <a:srgbClr val="5B5F71"/>
                </a:solidFill>
                <a:latin typeface="Instrument Sans Medium" pitchFamily="34" charset="0"/>
                <a:ea typeface="Instrument Sans Medium" pitchFamily="34" charset="-122"/>
                <a:cs typeface="Instrument Sans Medium" pitchFamily="34" charset="-120"/>
              </a:rPr>
              <a:t>High-priority cases displayed first</a:t>
            </a:r>
            <a:endParaRPr lang="en-US" sz="950" dirty="0"/>
          </a:p>
        </p:txBody>
      </p:sp>
      <p:sp>
        <p:nvSpPr>
          <p:cNvPr id="29" name="Text 27"/>
          <p:cNvSpPr/>
          <p:nvPr/>
        </p:nvSpPr>
        <p:spPr>
          <a:xfrm>
            <a:off x="4856857" y="4300612"/>
            <a:ext cx="1579513" cy="198462"/>
          </a:xfrm>
          <a:prstGeom prst="rect">
            <a:avLst/>
          </a:prstGeom>
          <a:noFill/>
          <a:ln/>
        </p:spPr>
        <p:txBody>
          <a:bodyPr wrap="none" lIns="0" tIns="0" rIns="0" bIns="0" rtlCol="0" anchor="t"/>
          <a:lstStyle/>
          <a:p>
            <a:pPr algn="l" indent="0" marL="0">
              <a:lnSpc>
                <a:spcPct val="133000"/>
              </a:lnSpc>
              <a:buNone/>
            </a:pPr>
            <a:r>
              <a:rPr lang="en-US" sz="950" dirty="0">
                <a:solidFill>
                  <a:srgbClr val="5B5F71"/>
                </a:solidFill>
                <a:latin typeface="Instrument Sans Medium" pitchFamily="34" charset="0"/>
                <a:ea typeface="Instrument Sans Medium" pitchFamily="34" charset="-122"/>
                <a:cs typeface="Instrument Sans Medium" pitchFamily="34" charset="-120"/>
              </a:rPr>
              <a:t>Reporting</a:t>
            </a:r>
            <a:endParaRPr lang="en-US" sz="950" dirty="0"/>
          </a:p>
        </p:txBody>
      </p:sp>
      <p:sp>
        <p:nvSpPr>
          <p:cNvPr id="30" name="Text 28"/>
          <p:cNvSpPr/>
          <p:nvPr/>
        </p:nvSpPr>
        <p:spPr>
          <a:xfrm>
            <a:off x="6227118" y="4300612"/>
            <a:ext cx="2753990" cy="198462"/>
          </a:xfrm>
          <a:prstGeom prst="rect">
            <a:avLst/>
          </a:prstGeom>
          <a:noFill/>
          <a:ln/>
        </p:spPr>
        <p:txBody>
          <a:bodyPr wrap="none" lIns="0" tIns="0" rIns="0" bIns="0" rtlCol="0" anchor="t"/>
          <a:lstStyle/>
          <a:p>
            <a:pPr algn="l" indent="0" marL="0">
              <a:lnSpc>
                <a:spcPct val="133000"/>
              </a:lnSpc>
              <a:buNone/>
            </a:pPr>
            <a:r>
              <a:rPr lang="en-US" sz="950" dirty="0">
                <a:solidFill>
                  <a:srgbClr val="5B5F71"/>
                </a:solidFill>
                <a:latin typeface="Instrument Sans Medium" pitchFamily="34" charset="0"/>
                <a:ea typeface="Instrument Sans Medium" pitchFamily="34" charset="-122"/>
                <a:cs typeface="Instrument Sans Medium" pitchFamily="34" charset="-120"/>
              </a:rPr>
              <a:t>Searchable and exportable digital data</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96119" y="1031974"/>
            <a:ext cx="8151763" cy="387548"/>
          </a:xfrm>
          <a:prstGeom prst="rect">
            <a:avLst/>
          </a:prstGeom>
          <a:noFill/>
          <a:ln/>
        </p:spPr>
        <p:txBody>
          <a:bodyPr wrap="none" lIns="0" tIns="0" rIns="0" bIns="0" rtlCol="0" anchor="t"/>
          <a:lstStyle/>
          <a:p>
            <a:pPr algn="l" indent="0" marL="0">
              <a:lnSpc>
                <a:spcPct val="104000"/>
              </a:lnSpc>
              <a:buNone/>
            </a:pPr>
            <a:r>
              <a:rPr lang="en-US" sz="2400" dirty="0">
                <a:solidFill>
                  <a:srgbClr val="505468"/>
                </a:solidFill>
                <a:latin typeface="Instrument Sans SemiBold" pitchFamily="34" charset="0"/>
                <a:ea typeface="Instrument Sans SemiBold" pitchFamily="34" charset="-122"/>
                <a:cs typeface="Instrument Sans SemiBold" pitchFamily="34" charset="-120"/>
              </a:rPr>
              <a:t>Current Status and Next Steps</a:t>
            </a:r>
            <a:endParaRPr lang="en-US" sz="2400" dirty="0"/>
          </a:p>
        </p:txBody>
      </p:sp>
      <p:sp>
        <p:nvSpPr>
          <p:cNvPr id="3" name="Shape 1"/>
          <p:cNvSpPr/>
          <p:nvPr/>
        </p:nvSpPr>
        <p:spPr>
          <a:xfrm>
            <a:off x="406822" y="1605558"/>
            <a:ext cx="4103191" cy="2505968"/>
          </a:xfrm>
          <a:prstGeom prst="roundRect">
            <a:avLst>
              <a:gd name="adj" fmla="val 3564"/>
            </a:avLst>
          </a:prstGeom>
          <a:solidFill>
            <a:srgbClr val="505468">
              <a:alpha val="95000"/>
            </a:srgbClr>
          </a:solidFill>
          <a:ln/>
        </p:spPr>
      </p:sp>
      <p:sp>
        <p:nvSpPr>
          <p:cNvPr id="4" name="Text 2"/>
          <p:cNvSpPr/>
          <p:nvPr/>
        </p:nvSpPr>
        <p:spPr>
          <a:xfrm>
            <a:off x="530796" y="1729532"/>
            <a:ext cx="3855244" cy="193849"/>
          </a:xfrm>
          <a:prstGeom prst="rect">
            <a:avLst/>
          </a:prstGeom>
          <a:noFill/>
          <a:ln/>
        </p:spPr>
        <p:txBody>
          <a:bodyPr wrap="none" lIns="0" tIns="0" rIns="0" bIns="0" rtlCol="0" anchor="t"/>
          <a:lstStyle/>
          <a:p>
            <a:pPr algn="l" indent="0" marL="0">
              <a:lnSpc>
                <a:spcPct val="104000"/>
              </a:lnSpc>
              <a:buNone/>
            </a:pPr>
            <a:r>
              <a:rPr lang="en-US" sz="1200" dirty="0">
                <a:solidFill>
                  <a:srgbClr val="FFFFFF"/>
                </a:solidFill>
                <a:latin typeface="Instrument Sans SemiBold" pitchFamily="34" charset="0"/>
                <a:ea typeface="Instrument Sans SemiBold" pitchFamily="34" charset="-122"/>
                <a:cs typeface="Instrument Sans SemiBold" pitchFamily="34" charset="-120"/>
              </a:rPr>
              <a:t>Current Completion</a:t>
            </a:r>
            <a:endParaRPr lang="en-US" sz="1200" dirty="0"/>
          </a:p>
        </p:txBody>
      </p:sp>
      <p:sp>
        <p:nvSpPr>
          <p:cNvPr id="5" name="Text 3"/>
          <p:cNvSpPr/>
          <p:nvPr/>
        </p:nvSpPr>
        <p:spPr>
          <a:xfrm>
            <a:off x="530796" y="2047354"/>
            <a:ext cx="3855244" cy="1407691"/>
          </a:xfrm>
          <a:prstGeom prst="rect">
            <a:avLst/>
          </a:prstGeom>
          <a:noFill/>
          <a:ln/>
        </p:spPr>
        <p:txBody>
          <a:bodyPr wrap="square" lIns="0" tIns="0" rIns="0" bIns="0" rtlCol="0" anchor="t">
            <a:normAutofit/>
          </a:bodyPr>
          <a:lstStyle/>
          <a:p>
            <a:pPr algn="l" marL="193040" indent="-193040">
              <a:lnSpc>
                <a:spcPct val="133000"/>
              </a:lnSpc>
              <a:buSzPct val="100000"/>
              <a:buChar char="•"/>
            </a:pPr>
            <a:r>
              <a:rPr lang="en-US" sz="950" dirty="0">
                <a:solidFill>
                  <a:srgbClr val="FFFFFF"/>
                </a:solidFill>
                <a:latin typeface="Instrument Sans Medium" pitchFamily="34" charset="0"/>
                <a:ea typeface="Instrument Sans Medium" pitchFamily="34" charset="-122"/>
                <a:cs typeface="Instrument Sans Medium" pitchFamily="34" charset="-120"/>
              </a:rPr>
              <a:t>End-to-end collection flow</a:t>
            </a:r>
            <a:endParaRPr lang="en-US" sz="950" dirty="0"/>
          </a:p>
          <a:p>
            <a:pPr algn="l" marL="193040" indent="-193040">
              <a:lnSpc>
                <a:spcPct val="133000"/>
              </a:lnSpc>
              <a:buSzPct val="100000"/>
              <a:buChar char="•"/>
            </a:pPr>
            <a:r>
              <a:rPr lang="en-US" sz="950" dirty="0">
                <a:solidFill>
                  <a:srgbClr val="FFFFFF"/>
                </a:solidFill>
                <a:latin typeface="Instrument Sans Medium" pitchFamily="34" charset="0"/>
                <a:ea typeface="Instrument Sans Medium" pitchFamily="34" charset="-122"/>
                <a:cs typeface="Instrument Sans Medium" pitchFamily="34" charset="-120"/>
              </a:rPr>
              <a:t>Database design and history</a:t>
            </a:r>
            <a:endParaRPr lang="en-US" sz="950" dirty="0"/>
          </a:p>
          <a:p>
            <a:pPr algn="l" marL="193040" indent="-193040">
              <a:lnSpc>
                <a:spcPct val="133000"/>
              </a:lnSpc>
              <a:buSzPct val="100000"/>
              <a:buChar char="•"/>
            </a:pPr>
            <a:r>
              <a:rPr lang="en-US" sz="950" dirty="0">
                <a:solidFill>
                  <a:srgbClr val="FFFFFF"/>
                </a:solidFill>
                <a:latin typeface="Instrument Sans Medium" pitchFamily="34" charset="0"/>
                <a:ea typeface="Instrument Sans Medium" pitchFamily="34" charset="-122"/>
                <a:cs typeface="Instrument Sans Medium" pitchFamily="34" charset="-120"/>
              </a:rPr>
              <a:t>Search, filters, ordering, and counts</a:t>
            </a:r>
            <a:endParaRPr lang="en-US" sz="950" dirty="0"/>
          </a:p>
          <a:p>
            <a:pPr algn="l" marL="193040" indent="-193040">
              <a:lnSpc>
                <a:spcPct val="133000"/>
              </a:lnSpc>
              <a:buSzPct val="100000"/>
              <a:buChar char="•"/>
            </a:pPr>
            <a:r>
              <a:rPr lang="en-US" sz="950" dirty="0">
                <a:solidFill>
                  <a:srgbClr val="FFFFFF"/>
                </a:solidFill>
                <a:latin typeface="Instrument Sans Medium" pitchFamily="34" charset="0"/>
                <a:ea typeface="Instrument Sans Medium" pitchFamily="34" charset="-122"/>
                <a:cs typeface="Instrument Sans Medium" pitchFamily="34" charset="-120"/>
              </a:rPr>
              <a:t>Member statements and payments</a:t>
            </a:r>
            <a:endParaRPr lang="en-US" sz="950" dirty="0"/>
          </a:p>
          <a:p>
            <a:pPr algn="l" marL="193040" indent="-193040">
              <a:lnSpc>
                <a:spcPct val="133000"/>
              </a:lnSpc>
              <a:buSzPct val="100000"/>
              <a:buChar char="•"/>
            </a:pPr>
            <a:r>
              <a:rPr lang="en-US" sz="950" dirty="0">
                <a:solidFill>
                  <a:srgbClr val="FFFFFF"/>
                </a:solidFill>
                <a:latin typeface="Instrument Sans Medium" pitchFamily="34" charset="0"/>
                <a:ea typeface="Instrument Sans Medium" pitchFamily="34" charset="-122"/>
                <a:cs typeface="Instrument Sans Medium" pitchFamily="34" charset="-120"/>
              </a:rPr>
              <a:t>Prediction integration and confidence threshold</a:t>
            </a:r>
            <a:endParaRPr lang="en-US" sz="950" dirty="0"/>
          </a:p>
          <a:p>
            <a:pPr algn="l" marL="193040" indent="-193040">
              <a:lnSpc>
                <a:spcPct val="133000"/>
              </a:lnSpc>
              <a:buSzPct val="100000"/>
              <a:buChar char="•"/>
            </a:pPr>
            <a:r>
              <a:rPr lang="en-US" sz="950" dirty="0">
                <a:solidFill>
                  <a:srgbClr val="FFFFFF"/>
                </a:solidFill>
                <a:latin typeface="Instrument Sans Medium" pitchFamily="34" charset="0"/>
                <a:ea typeface="Instrument Sans Medium" pitchFamily="34" charset="-122"/>
                <a:cs typeface="Instrument Sans Medium" pitchFamily="34" charset="-120"/>
              </a:rPr>
              <a:t>Validation and integration tests</a:t>
            </a:r>
            <a:endParaRPr lang="en-US" sz="950" dirty="0"/>
          </a:p>
        </p:txBody>
      </p:sp>
      <p:sp>
        <p:nvSpPr>
          <p:cNvPr id="6" name="Text 4"/>
          <p:cNvSpPr/>
          <p:nvPr/>
        </p:nvSpPr>
        <p:spPr>
          <a:xfrm>
            <a:off x="4728046" y="1729532"/>
            <a:ext cx="3924598" cy="193849"/>
          </a:xfrm>
          <a:prstGeom prst="rect">
            <a:avLst/>
          </a:prstGeom>
          <a:noFill/>
          <a:ln/>
        </p:spPr>
        <p:txBody>
          <a:bodyPr wrap="none" lIns="0" tIns="0" rIns="0" bIns="0" rtlCol="0" anchor="t"/>
          <a:lstStyle/>
          <a:p>
            <a:pPr algn="l" indent="0" marL="0">
              <a:lnSpc>
                <a:spcPct val="104000"/>
              </a:lnSpc>
              <a:buNone/>
            </a:pPr>
            <a:r>
              <a:rPr lang="en-US" sz="1200" dirty="0">
                <a:solidFill>
                  <a:srgbClr val="505468"/>
                </a:solidFill>
                <a:latin typeface="Instrument Sans SemiBold" pitchFamily="34" charset="0"/>
                <a:ea typeface="Instrument Sans SemiBold" pitchFamily="34" charset="-122"/>
                <a:cs typeface="Instrument Sans SemiBold" pitchFamily="34" charset="-120"/>
              </a:rPr>
              <a:t>Next Improvement</a:t>
            </a:r>
            <a:endParaRPr lang="en-US" sz="1200" dirty="0"/>
          </a:p>
        </p:txBody>
      </p:sp>
      <p:sp>
        <p:nvSpPr>
          <p:cNvPr id="7" name="Text 5"/>
          <p:cNvSpPr/>
          <p:nvPr/>
        </p:nvSpPr>
        <p:spPr>
          <a:xfrm>
            <a:off x="4728046" y="2047354"/>
            <a:ext cx="3924598" cy="396925"/>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5B5F71"/>
                </a:solidFill>
                <a:latin typeface="Instrument Sans Medium" pitchFamily="34" charset="0"/>
                <a:ea typeface="Instrument Sans Medium" pitchFamily="34" charset="-122"/>
                <a:cs typeface="Instrument Sans Medium" pitchFamily="34" charset="-120"/>
              </a:rPr>
              <a:t>Add offline-first collection and SMS/WhatsApp receipts so the system remains useful at collection points with weak connectivity.</a:t>
            </a:r>
            <a:endParaRPr lang="en-US" sz="950" dirty="0"/>
          </a:p>
        </p:txBody>
      </p:sp>
      <p:sp>
        <p:nvSpPr>
          <p:cNvPr id="8" name="Shape 6"/>
          <p:cNvSpPr/>
          <p:nvPr/>
        </p:nvSpPr>
        <p:spPr>
          <a:xfrm>
            <a:off x="4728046" y="2583805"/>
            <a:ext cx="1900312" cy="1388194"/>
          </a:xfrm>
          <a:prstGeom prst="roundRect">
            <a:avLst>
              <a:gd name="adj" fmla="val 3753"/>
            </a:avLst>
          </a:prstGeom>
          <a:solidFill>
            <a:srgbClr val="FFFFFF">
              <a:alpha val="95000"/>
            </a:srgbClr>
          </a:solidFill>
          <a:ln w="14288">
            <a:solidFill>
              <a:srgbClr val="C8C9CF"/>
            </a:solidFill>
            <a:prstDash val="solid"/>
          </a:ln>
        </p:spPr>
      </p:sp>
      <p:sp>
        <p:nvSpPr>
          <p:cNvPr id="9" name="Text 7"/>
          <p:cNvSpPr/>
          <p:nvPr/>
        </p:nvSpPr>
        <p:spPr>
          <a:xfrm>
            <a:off x="4866308" y="2722066"/>
            <a:ext cx="1623789" cy="193849"/>
          </a:xfrm>
          <a:prstGeom prst="rect">
            <a:avLst/>
          </a:prstGeom>
          <a:noFill/>
          <a:ln/>
        </p:spPr>
        <p:txBody>
          <a:bodyPr wrap="none" lIns="0" tIns="0" rIns="0" bIns="0" rtlCol="0" anchor="t"/>
          <a:lstStyle/>
          <a:p>
            <a:pPr algn="l" indent="0" marL="0">
              <a:lnSpc>
                <a:spcPct val="104000"/>
              </a:lnSpc>
              <a:buNone/>
            </a:pPr>
            <a:r>
              <a:rPr lang="en-US" sz="1200" dirty="0">
                <a:solidFill>
                  <a:srgbClr val="5B5F71"/>
                </a:solidFill>
                <a:latin typeface="Instrument Sans SemiBold" pitchFamily="34" charset="0"/>
                <a:ea typeface="Instrument Sans SemiBold" pitchFamily="34" charset="-122"/>
                <a:cs typeface="Instrument Sans SemiBold" pitchFamily="34" charset="-120"/>
              </a:rPr>
              <a:t>Offline-First</a:t>
            </a:r>
            <a:endParaRPr lang="en-US" sz="1200" dirty="0"/>
          </a:p>
        </p:txBody>
      </p:sp>
      <p:sp>
        <p:nvSpPr>
          <p:cNvPr id="10" name="Text 8"/>
          <p:cNvSpPr/>
          <p:nvPr/>
        </p:nvSpPr>
        <p:spPr>
          <a:xfrm>
            <a:off x="4866308" y="3039889"/>
            <a:ext cx="1623789" cy="793849"/>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5B5F71"/>
                </a:solidFill>
                <a:latin typeface="Instrument Sans Medium" pitchFamily="34" charset="0"/>
                <a:ea typeface="Instrument Sans Medium" pitchFamily="34" charset="-122"/>
                <a:cs typeface="Instrument Sans Medium" pitchFamily="34" charset="-120"/>
              </a:rPr>
              <a:t>Collection continues without network access; syncs when connectivity is restored</a:t>
            </a:r>
            <a:endParaRPr lang="en-US" sz="950" dirty="0"/>
          </a:p>
        </p:txBody>
      </p:sp>
      <p:sp>
        <p:nvSpPr>
          <p:cNvPr id="11" name="Shape 9"/>
          <p:cNvSpPr/>
          <p:nvPr/>
        </p:nvSpPr>
        <p:spPr>
          <a:xfrm>
            <a:off x="6752332" y="2583805"/>
            <a:ext cx="1900312" cy="1388194"/>
          </a:xfrm>
          <a:prstGeom prst="roundRect">
            <a:avLst>
              <a:gd name="adj" fmla="val 3753"/>
            </a:avLst>
          </a:prstGeom>
          <a:solidFill>
            <a:srgbClr val="FFFFFF">
              <a:alpha val="95000"/>
            </a:srgbClr>
          </a:solidFill>
          <a:ln w="14288">
            <a:solidFill>
              <a:srgbClr val="C8C9CF"/>
            </a:solidFill>
            <a:prstDash val="solid"/>
          </a:ln>
        </p:spPr>
      </p:sp>
      <p:sp>
        <p:nvSpPr>
          <p:cNvPr id="12" name="Text 10"/>
          <p:cNvSpPr/>
          <p:nvPr/>
        </p:nvSpPr>
        <p:spPr>
          <a:xfrm>
            <a:off x="6890593" y="2722066"/>
            <a:ext cx="1623789" cy="387697"/>
          </a:xfrm>
          <a:prstGeom prst="rect">
            <a:avLst/>
          </a:prstGeom>
          <a:noFill/>
          <a:ln/>
        </p:spPr>
        <p:txBody>
          <a:bodyPr wrap="square" lIns="0" tIns="0" rIns="0" bIns="0" rtlCol="0" anchor="t">
            <a:normAutofit/>
          </a:bodyPr>
          <a:lstStyle/>
          <a:p>
            <a:pPr algn="l" indent="0" marL="0">
              <a:lnSpc>
                <a:spcPct val="104000"/>
              </a:lnSpc>
              <a:buNone/>
            </a:pPr>
            <a:r>
              <a:rPr lang="en-US" sz="1200" dirty="0">
                <a:solidFill>
                  <a:srgbClr val="5B5F71"/>
                </a:solidFill>
                <a:latin typeface="Instrument Sans SemiBold" pitchFamily="34" charset="0"/>
                <a:ea typeface="Instrument Sans SemiBold" pitchFamily="34" charset="-122"/>
                <a:cs typeface="Instrument Sans SemiBold" pitchFamily="34" charset="-120"/>
              </a:rPr>
              <a:t>SMS / WhatsApp Receipts</a:t>
            </a:r>
            <a:endParaRPr lang="en-US" sz="1200" dirty="0"/>
          </a:p>
        </p:txBody>
      </p:sp>
      <p:sp>
        <p:nvSpPr>
          <p:cNvPr id="13" name="Text 11"/>
          <p:cNvSpPr/>
          <p:nvPr/>
        </p:nvSpPr>
        <p:spPr>
          <a:xfrm>
            <a:off x="6890593" y="3233738"/>
            <a:ext cx="1623789" cy="595387"/>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5B5F71"/>
                </a:solidFill>
                <a:latin typeface="Instrument Sans Medium" pitchFamily="34" charset="0"/>
                <a:ea typeface="Instrument Sans Medium" pitchFamily="34" charset="-122"/>
                <a:cs typeface="Instrument Sans Medium" pitchFamily="34" charset="-120"/>
              </a:rPr>
              <a:t>Farmers receive delivery confirmation directly on their mobile device</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96119" y="395213"/>
            <a:ext cx="8151763" cy="339179"/>
          </a:xfrm>
          <a:prstGeom prst="rect">
            <a:avLst/>
          </a:prstGeom>
          <a:noFill/>
          <a:ln/>
        </p:spPr>
        <p:txBody>
          <a:bodyPr wrap="none" lIns="0" tIns="0" rIns="0" bIns="0" rtlCol="0" anchor="t"/>
          <a:lstStyle/>
          <a:p>
            <a:pPr algn="l" indent="0" marL="0">
              <a:lnSpc>
                <a:spcPct val="104000"/>
              </a:lnSpc>
              <a:buNone/>
            </a:pPr>
            <a:r>
              <a:rPr lang="en-US" sz="2100" dirty="0">
                <a:solidFill>
                  <a:srgbClr val="505468"/>
                </a:solidFill>
                <a:latin typeface="Instrument Sans SemiBold" pitchFamily="34" charset="0"/>
                <a:ea typeface="Instrument Sans SemiBold" pitchFamily="34" charset="-122"/>
                <a:cs typeface="Instrument Sans SemiBold" pitchFamily="34" charset="-120"/>
              </a:rPr>
              <a:t>Research Foundation and Technical References</a:t>
            </a:r>
            <a:endParaRPr lang="en-US" sz="2100" dirty="0"/>
          </a:p>
        </p:txBody>
      </p:sp>
      <p:sp>
        <p:nvSpPr>
          <p:cNvPr id="3" name="Text 1"/>
          <p:cNvSpPr/>
          <p:nvPr/>
        </p:nvSpPr>
        <p:spPr>
          <a:xfrm>
            <a:off x="496119" y="971773"/>
            <a:ext cx="3943499" cy="169515"/>
          </a:xfrm>
          <a:prstGeom prst="rect">
            <a:avLst/>
          </a:prstGeom>
          <a:noFill/>
          <a:ln/>
        </p:spPr>
        <p:txBody>
          <a:bodyPr wrap="none" lIns="0" tIns="0" rIns="0" bIns="0" rtlCol="0" anchor="t"/>
          <a:lstStyle/>
          <a:p>
            <a:pPr algn="l" indent="0" marL="0">
              <a:lnSpc>
                <a:spcPct val="104000"/>
              </a:lnSpc>
              <a:buNone/>
            </a:pPr>
            <a:r>
              <a:rPr lang="en-US" sz="1050" dirty="0">
                <a:solidFill>
                  <a:srgbClr val="505468"/>
                </a:solidFill>
                <a:latin typeface="Instrument Sans SemiBold" pitchFamily="34" charset="0"/>
                <a:ea typeface="Instrument Sans SemiBold" pitchFamily="34" charset="-122"/>
                <a:cs typeface="Instrument Sans SemiBold" pitchFamily="34" charset="-120"/>
              </a:rPr>
              <a:t>Farmer Producer Organisation Context</a:t>
            </a:r>
            <a:endParaRPr lang="en-US" sz="1050" dirty="0"/>
          </a:p>
        </p:txBody>
      </p:sp>
      <p:sp>
        <p:nvSpPr>
          <p:cNvPr id="4" name="Text 2"/>
          <p:cNvSpPr/>
          <p:nvPr/>
        </p:nvSpPr>
        <p:spPr>
          <a:xfrm>
            <a:off x="496119" y="1236241"/>
            <a:ext cx="3943499" cy="1206103"/>
          </a:xfrm>
          <a:prstGeom prst="rect">
            <a:avLst/>
          </a:prstGeom>
          <a:noFill/>
          <a:ln/>
        </p:spPr>
        <p:txBody>
          <a:bodyPr wrap="square" lIns="0" tIns="0" rIns="0" bIns="0" rtlCol="0" anchor="t">
            <a:normAutofit/>
          </a:bodyPr>
          <a:lstStyle/>
          <a:p>
            <a:pPr algn="l" marL="172720" indent="-172720">
              <a:lnSpc>
                <a:spcPct val="125000"/>
              </a:lnSpc>
              <a:buSzPct val="100000"/>
              <a:buChar char="•"/>
            </a:pPr>
            <a:r>
              <a:rPr lang="en-US" sz="850" dirty="0">
                <a:solidFill>
                  <a:srgbClr val="5B5F71"/>
                </a:solidFill>
                <a:latin typeface="Instrument Sans Medium" pitchFamily="34" charset="0"/>
                <a:ea typeface="Instrument Sans Medium" pitchFamily="34" charset="-122"/>
                <a:cs typeface="Instrument Sans Medium" pitchFamily="34" charset="-120"/>
              </a:rPr>
              <a:t>SFAC defines a Farmer Producer Organisation as a producer organisation whose members are farmers</a:t>
            </a:r>
            <a:endParaRPr lang="en-US" sz="850" dirty="0"/>
          </a:p>
          <a:p>
            <a:pPr algn="l" marL="172720" indent="-172720">
              <a:lnSpc>
                <a:spcPct val="125000"/>
              </a:lnSpc>
              <a:buSzPct val="100000"/>
              <a:buChar char="•"/>
            </a:pPr>
            <a:r>
              <a:rPr lang="en-US" sz="850" dirty="0">
                <a:solidFill>
                  <a:srgbClr val="5B5F71"/>
                </a:solidFill>
                <a:latin typeface="Instrument Sans Medium" pitchFamily="34" charset="0"/>
                <a:ea typeface="Instrument Sans Medium" pitchFamily="34" charset="-122"/>
                <a:cs typeface="Instrument Sans Medium" pitchFamily="34" charset="-120"/>
              </a:rPr>
              <a:t>SFAC's strategy paper describes Farmer Producer Companies as aggregation tools designed to support professional management and agricultural supply-chain activities</a:t>
            </a:r>
            <a:endParaRPr lang="en-US" sz="850" dirty="0"/>
          </a:p>
          <a:p>
            <a:pPr algn="l" marL="172720" indent="-172720">
              <a:lnSpc>
                <a:spcPct val="125000"/>
              </a:lnSpc>
              <a:buSzPct val="100000"/>
              <a:buChar char="•"/>
            </a:pPr>
            <a:r>
              <a:rPr lang="en-US" sz="850" dirty="0">
                <a:solidFill>
                  <a:srgbClr val="5B5F71"/>
                </a:solidFill>
                <a:latin typeface="Instrument Sans Medium" pitchFamily="34" charset="0"/>
                <a:ea typeface="Instrument Sans Medium" pitchFamily="34" charset="-122"/>
                <a:cs typeface="Instrument Sans Medium" pitchFamily="34" charset="-120"/>
              </a:rPr>
              <a:t>These findings support the need for transparent member, produce, delivery, and payment records</a:t>
            </a:r>
            <a:endParaRPr lang="en-US" sz="850" dirty="0"/>
          </a:p>
        </p:txBody>
      </p:sp>
      <p:sp>
        <p:nvSpPr>
          <p:cNvPr id="5" name="Text 3"/>
          <p:cNvSpPr/>
          <p:nvPr/>
        </p:nvSpPr>
        <p:spPr>
          <a:xfrm>
            <a:off x="496119" y="2537296"/>
            <a:ext cx="3943499" cy="169515"/>
          </a:xfrm>
          <a:prstGeom prst="rect">
            <a:avLst/>
          </a:prstGeom>
          <a:noFill/>
          <a:ln/>
        </p:spPr>
        <p:txBody>
          <a:bodyPr wrap="none" lIns="0" tIns="0" rIns="0" bIns="0" rtlCol="0" anchor="t"/>
          <a:lstStyle/>
          <a:p>
            <a:pPr algn="l" indent="0" marL="0">
              <a:lnSpc>
                <a:spcPct val="104000"/>
              </a:lnSpc>
              <a:buNone/>
            </a:pPr>
            <a:r>
              <a:rPr lang="en-US" sz="1050" dirty="0">
                <a:solidFill>
                  <a:srgbClr val="505468"/>
                </a:solidFill>
                <a:latin typeface="Instrument Sans SemiBold" pitchFamily="34" charset="0"/>
                <a:ea typeface="Instrument Sans SemiBold" pitchFamily="34" charset="-122"/>
                <a:cs typeface="Instrument Sans SemiBold" pitchFamily="34" charset="-120"/>
              </a:rPr>
              <a:t>Digital Agriculture Context</a:t>
            </a:r>
            <a:endParaRPr lang="en-US" sz="1050" dirty="0"/>
          </a:p>
        </p:txBody>
      </p:sp>
      <p:sp>
        <p:nvSpPr>
          <p:cNvPr id="6" name="Text 4"/>
          <p:cNvSpPr/>
          <p:nvPr/>
        </p:nvSpPr>
        <p:spPr>
          <a:xfrm>
            <a:off x="496119" y="2801764"/>
            <a:ext cx="3943499" cy="1043285"/>
          </a:xfrm>
          <a:prstGeom prst="rect">
            <a:avLst/>
          </a:prstGeom>
          <a:noFill/>
          <a:ln/>
        </p:spPr>
        <p:txBody>
          <a:bodyPr wrap="square" lIns="0" tIns="0" rIns="0" bIns="0" rtlCol="0" anchor="t">
            <a:normAutofit/>
          </a:bodyPr>
          <a:lstStyle/>
          <a:p>
            <a:pPr algn="l" marL="172720" indent="-172720">
              <a:lnSpc>
                <a:spcPct val="125000"/>
              </a:lnSpc>
              <a:buSzPct val="100000"/>
              <a:buChar char="•"/>
            </a:pPr>
            <a:r>
              <a:rPr lang="en-US" sz="850" dirty="0">
                <a:solidFill>
                  <a:srgbClr val="5B5F71"/>
                </a:solidFill>
                <a:latin typeface="Instrument Sans Medium" pitchFamily="34" charset="0"/>
                <a:ea typeface="Instrument Sans Medium" pitchFamily="34" charset="-122"/>
                <a:cs typeface="Instrument Sans Medium" pitchFamily="34" charset="-120"/>
              </a:rPr>
              <a:t>FAO reports that digital agriculture can support productivity, cost efficiency, market opportunities, communication, and inclusion</a:t>
            </a:r>
            <a:endParaRPr lang="en-US" sz="850" dirty="0"/>
          </a:p>
          <a:p>
            <a:pPr algn="l" marL="172720" indent="-172720">
              <a:lnSpc>
                <a:spcPct val="125000"/>
              </a:lnSpc>
              <a:buSzPct val="100000"/>
              <a:buChar char="•"/>
            </a:pPr>
            <a:r>
              <a:rPr lang="en-US" sz="850" dirty="0">
                <a:solidFill>
                  <a:srgbClr val="5B5F71"/>
                </a:solidFill>
                <a:latin typeface="Instrument Sans Medium" pitchFamily="34" charset="0"/>
                <a:ea typeface="Instrument Sans Medium" pitchFamily="34" charset="-122"/>
                <a:cs typeface="Instrument Sans Medium" pitchFamily="34" charset="-120"/>
              </a:rPr>
              <a:t>FAO highlights connectivity, affordability, digital skills, and institutional support as important conditions</a:t>
            </a:r>
            <a:endParaRPr lang="en-US" sz="850" dirty="0"/>
          </a:p>
          <a:p>
            <a:pPr algn="l" marL="172720" indent="-172720">
              <a:lnSpc>
                <a:spcPct val="125000"/>
              </a:lnSpc>
              <a:buSzPct val="100000"/>
              <a:buChar char="•"/>
            </a:pPr>
            <a:r>
              <a:rPr lang="en-US" sz="850" dirty="0">
                <a:solidFill>
                  <a:srgbClr val="5B5F71"/>
                </a:solidFill>
                <a:latin typeface="Instrument Sans Medium" pitchFamily="34" charset="0"/>
                <a:ea typeface="Instrument Sans Medium" pitchFamily="34" charset="-122"/>
                <a:cs typeface="Instrument Sans Medium" pitchFamily="34" charset="-120"/>
              </a:rPr>
              <a:t>The World Bank's Digital Farm project used farmer-friendly digital logbooks and returned information to farmers and producer organisations</a:t>
            </a:r>
            <a:endParaRPr lang="en-US" sz="850" dirty="0"/>
          </a:p>
        </p:txBody>
      </p:sp>
      <p:sp>
        <p:nvSpPr>
          <p:cNvPr id="7" name="Text 5"/>
          <p:cNvSpPr/>
          <p:nvPr/>
        </p:nvSpPr>
        <p:spPr>
          <a:xfrm>
            <a:off x="4709145" y="971773"/>
            <a:ext cx="3943499" cy="169515"/>
          </a:xfrm>
          <a:prstGeom prst="rect">
            <a:avLst/>
          </a:prstGeom>
          <a:noFill/>
          <a:ln/>
        </p:spPr>
        <p:txBody>
          <a:bodyPr wrap="none" lIns="0" tIns="0" rIns="0" bIns="0" rtlCol="0" anchor="t"/>
          <a:lstStyle/>
          <a:p>
            <a:pPr algn="l" indent="0" marL="0">
              <a:lnSpc>
                <a:spcPct val="104000"/>
              </a:lnSpc>
              <a:buNone/>
            </a:pPr>
            <a:r>
              <a:rPr lang="en-US" sz="1050" dirty="0">
                <a:solidFill>
                  <a:srgbClr val="505468"/>
                </a:solidFill>
                <a:latin typeface="Instrument Sans SemiBold" pitchFamily="34" charset="0"/>
                <a:ea typeface="Instrument Sans SemiBold" pitchFamily="34" charset="-122"/>
                <a:cs typeface="Instrument Sans SemiBold" pitchFamily="34" charset="-120"/>
              </a:rPr>
              <a:t>Machine-Learning Method</a:t>
            </a:r>
            <a:endParaRPr lang="en-US" sz="1050" dirty="0"/>
          </a:p>
        </p:txBody>
      </p:sp>
      <p:sp>
        <p:nvSpPr>
          <p:cNvPr id="8" name="Text 6"/>
          <p:cNvSpPr/>
          <p:nvPr/>
        </p:nvSpPr>
        <p:spPr>
          <a:xfrm>
            <a:off x="4709145" y="1236241"/>
            <a:ext cx="3943499" cy="1043285"/>
          </a:xfrm>
          <a:prstGeom prst="rect">
            <a:avLst/>
          </a:prstGeom>
          <a:noFill/>
          <a:ln/>
        </p:spPr>
        <p:txBody>
          <a:bodyPr wrap="square" lIns="0" tIns="0" rIns="0" bIns="0" rtlCol="0" anchor="t">
            <a:normAutofit/>
          </a:bodyPr>
          <a:lstStyle/>
          <a:p>
            <a:pPr algn="l" marL="172720" indent="-172720">
              <a:lnSpc>
                <a:spcPct val="125000"/>
              </a:lnSpc>
              <a:buSzPct val="100000"/>
              <a:buChar char="•"/>
            </a:pPr>
            <a:r>
              <a:rPr lang="en-US" sz="850" dirty="0">
                <a:solidFill>
                  <a:srgbClr val="5B5F71"/>
                </a:solidFill>
                <a:latin typeface="Instrument Sans Medium" pitchFamily="34" charset="0"/>
                <a:ea typeface="Instrument Sans Medium" pitchFamily="34" charset="-122"/>
                <a:cs typeface="Instrument Sans Medium" pitchFamily="34" charset="-120"/>
              </a:rPr>
              <a:t>scikit-learn's train_test_split supports reproducible training and test subsets using a fixed random_state</a:t>
            </a:r>
            <a:endParaRPr lang="en-US" sz="850" dirty="0"/>
          </a:p>
          <a:p>
            <a:pPr algn="l" marL="172720" indent="-172720">
              <a:lnSpc>
                <a:spcPct val="125000"/>
              </a:lnSpc>
              <a:buSzPct val="100000"/>
              <a:buChar char="•"/>
            </a:pPr>
            <a:r>
              <a:rPr lang="en-US" sz="850" dirty="0">
                <a:solidFill>
                  <a:srgbClr val="5B5F71"/>
                </a:solidFill>
                <a:latin typeface="Instrument Sans Medium" pitchFamily="34" charset="0"/>
                <a:ea typeface="Instrument Sans Medium" pitchFamily="34" charset="-122"/>
                <a:cs typeface="Instrument Sans Medium" pitchFamily="34" charset="-120"/>
              </a:rPr>
              <a:t>Logistic Regression is a standard regularised classifier suitable for a simple, explainable binary prediction</a:t>
            </a:r>
            <a:endParaRPr lang="en-US" sz="850" dirty="0"/>
          </a:p>
          <a:p>
            <a:pPr algn="l" marL="172720" indent="-172720">
              <a:lnSpc>
                <a:spcPct val="125000"/>
              </a:lnSpc>
              <a:buSzPct val="100000"/>
              <a:buChar char="•"/>
            </a:pPr>
            <a:r>
              <a:rPr lang="en-US" sz="850" dirty="0">
                <a:solidFill>
                  <a:srgbClr val="5B5F71"/>
                </a:solidFill>
                <a:latin typeface="Instrument Sans Medium" pitchFamily="34" charset="0"/>
                <a:ea typeface="Instrument Sans Medium" pitchFamily="34" charset="-122"/>
                <a:cs typeface="Instrument Sans Medium" pitchFamily="34" charset="-120"/>
              </a:rPr>
              <a:t>A confidence threshold avoids presenting uncertain output as a definite decision</a:t>
            </a:r>
            <a:endParaRPr lang="en-US" sz="850" dirty="0"/>
          </a:p>
        </p:txBody>
      </p:sp>
      <p:sp>
        <p:nvSpPr>
          <p:cNvPr id="9" name="Text 7"/>
          <p:cNvSpPr/>
          <p:nvPr/>
        </p:nvSpPr>
        <p:spPr>
          <a:xfrm>
            <a:off x="4709145" y="2374478"/>
            <a:ext cx="3943499" cy="169515"/>
          </a:xfrm>
          <a:prstGeom prst="rect">
            <a:avLst/>
          </a:prstGeom>
          <a:noFill/>
          <a:ln/>
        </p:spPr>
        <p:txBody>
          <a:bodyPr wrap="none" lIns="0" tIns="0" rIns="0" bIns="0" rtlCol="0" anchor="t"/>
          <a:lstStyle/>
          <a:p>
            <a:pPr algn="l" indent="0" marL="0">
              <a:lnSpc>
                <a:spcPct val="104000"/>
              </a:lnSpc>
              <a:buNone/>
            </a:pPr>
            <a:r>
              <a:rPr lang="en-US" sz="1050" dirty="0">
                <a:solidFill>
                  <a:srgbClr val="505468"/>
                </a:solidFill>
                <a:latin typeface="Instrument Sans SemiBold" pitchFamily="34" charset="0"/>
                <a:ea typeface="Instrument Sans SemiBold" pitchFamily="34" charset="-122"/>
                <a:cs typeface="Instrument Sans SemiBold" pitchFamily="34" charset="-120"/>
              </a:rPr>
              <a:t>References</a:t>
            </a:r>
            <a:endParaRPr lang="en-US" sz="1050" dirty="0"/>
          </a:p>
        </p:txBody>
      </p:sp>
      <p:sp>
        <p:nvSpPr>
          <p:cNvPr id="10" name="Text 8"/>
          <p:cNvSpPr/>
          <p:nvPr/>
        </p:nvSpPr>
        <p:spPr>
          <a:xfrm>
            <a:off x="4709145" y="2638946"/>
            <a:ext cx="3943499" cy="1631305"/>
          </a:xfrm>
          <a:prstGeom prst="rect">
            <a:avLst/>
          </a:prstGeom>
          <a:noFill/>
          <a:ln/>
        </p:spPr>
        <p:txBody>
          <a:bodyPr wrap="square" lIns="0" tIns="0" rIns="0" bIns="0" rtlCol="0" anchor="t">
            <a:normAutofit/>
          </a:bodyPr>
          <a:lstStyle/>
          <a:p>
            <a:pPr algn="l" marL="172720" indent="-172720">
              <a:lnSpc>
                <a:spcPct val="125000"/>
              </a:lnSpc>
              <a:buSzPct val="100000"/>
              <a:buChar char="•"/>
            </a:pPr>
            <a:r>
              <a:rPr lang="en-US" sz="850" dirty="0">
                <a:solidFill>
                  <a:srgbClr val="5B5F71"/>
                </a:solidFill>
                <a:latin typeface="Instrument Sans Medium" pitchFamily="34" charset="0"/>
                <a:ea typeface="Instrument Sans Medium" pitchFamily="34" charset="-122"/>
                <a:cs typeface="Instrument Sans Medium" pitchFamily="34" charset="-120"/>
              </a:rPr>
              <a:t>SFAC. "Frequently Asked Questions – Farmer Producer Organisations." sfacindia.com</a:t>
            </a:r>
            <a:endParaRPr lang="en-US" sz="850" dirty="0"/>
          </a:p>
          <a:p>
            <a:pPr algn="l" marL="172720" indent="-172720">
              <a:lnSpc>
                <a:spcPct val="125000"/>
              </a:lnSpc>
              <a:buSzPct val="100000"/>
              <a:buChar char="•"/>
            </a:pPr>
            <a:r>
              <a:rPr lang="en-US" sz="850" dirty="0">
                <a:solidFill>
                  <a:srgbClr val="5B5F71"/>
                </a:solidFill>
                <a:latin typeface="Instrument Sans Medium" pitchFamily="34" charset="0"/>
                <a:ea typeface="Instrument Sans Medium" pitchFamily="34" charset="-122"/>
                <a:cs typeface="Instrument Sans Medium" pitchFamily="34" charset="-120"/>
              </a:rPr>
              <a:t>SFAC. "Strategy Paper for Promotion of 10,000 Farmer Producer Organisations." sfacindia.com</a:t>
            </a:r>
            <a:endParaRPr lang="en-US" sz="850" dirty="0"/>
          </a:p>
          <a:p>
            <a:pPr algn="l" marL="172720" indent="-172720">
              <a:lnSpc>
                <a:spcPct val="125000"/>
              </a:lnSpc>
              <a:buSzPct val="100000"/>
              <a:buChar char="•"/>
            </a:pPr>
            <a:r>
              <a:rPr lang="en-US" sz="850" dirty="0">
                <a:solidFill>
                  <a:srgbClr val="5B5F71"/>
                </a:solidFill>
                <a:latin typeface="Instrument Sans Medium" pitchFamily="34" charset="0"/>
                <a:ea typeface="Instrument Sans Medium" pitchFamily="34" charset="-122"/>
                <a:cs typeface="Instrument Sans Medium" pitchFamily="34" charset="-120"/>
              </a:rPr>
              <a:t>FAO. "Digital Technologies in Agriculture and Rural Areas – Status Report." 2019. fao.org</a:t>
            </a:r>
            <a:endParaRPr lang="en-US" sz="850" dirty="0"/>
          </a:p>
          <a:p>
            <a:pPr algn="l" marL="172720" indent="-172720">
              <a:lnSpc>
                <a:spcPct val="125000"/>
              </a:lnSpc>
              <a:buSzPct val="100000"/>
              <a:buChar char="•"/>
            </a:pPr>
            <a:r>
              <a:rPr lang="en-US" sz="850" dirty="0">
                <a:solidFill>
                  <a:srgbClr val="5B5F71"/>
                </a:solidFill>
                <a:latin typeface="Instrument Sans Medium" pitchFamily="34" charset="0"/>
                <a:ea typeface="Instrument Sans Medium" pitchFamily="34" charset="-122"/>
                <a:cs typeface="Instrument Sans Medium" pitchFamily="34" charset="-120"/>
              </a:rPr>
              <a:t>World Bank. "Digital Farm." worldbank.org</a:t>
            </a:r>
            <a:endParaRPr lang="en-US" sz="850" dirty="0"/>
          </a:p>
          <a:p>
            <a:pPr algn="l" marL="172720" indent="-172720">
              <a:lnSpc>
                <a:spcPct val="125000"/>
              </a:lnSpc>
              <a:buSzPct val="100000"/>
              <a:buChar char="•"/>
            </a:pPr>
            <a:r>
              <a:rPr lang="en-US" sz="850" dirty="0">
                <a:solidFill>
                  <a:srgbClr val="5B5F71"/>
                </a:solidFill>
                <a:latin typeface="Instrument Sans Medium" pitchFamily="34" charset="0"/>
                <a:ea typeface="Instrument Sans Medium" pitchFamily="34" charset="-122"/>
                <a:cs typeface="Instrument Sans Medium" pitchFamily="34" charset="-120"/>
              </a:rPr>
              <a:t>scikit-learn. train_test_split Documentation. scikit-learn.org</a:t>
            </a:r>
            <a:endParaRPr lang="en-US" sz="850" dirty="0"/>
          </a:p>
          <a:p>
            <a:pPr algn="l" marL="172720" indent="-172720">
              <a:lnSpc>
                <a:spcPct val="125000"/>
              </a:lnSpc>
              <a:buSzPct val="100000"/>
              <a:buChar char="•"/>
            </a:pPr>
            <a:r>
              <a:rPr lang="en-US" sz="850" dirty="0">
                <a:solidFill>
                  <a:srgbClr val="5B5F71"/>
                </a:solidFill>
                <a:latin typeface="Instrument Sans Medium" pitchFamily="34" charset="0"/>
                <a:ea typeface="Instrument Sans Medium" pitchFamily="34" charset="-122"/>
                <a:cs typeface="Instrument Sans Medium" pitchFamily="34" charset="-120"/>
              </a:rPr>
              <a:t>scikit-learn. LogisticRegression Documentation. scikit-learn.org</a:t>
            </a:r>
            <a:endParaRPr lang="en-US" sz="850" dirty="0"/>
          </a:p>
        </p:txBody>
      </p:sp>
      <p:sp>
        <p:nvSpPr>
          <p:cNvPr id="11" name="Shape 9"/>
          <p:cNvSpPr/>
          <p:nvPr/>
        </p:nvSpPr>
        <p:spPr>
          <a:xfrm>
            <a:off x="496119" y="4437311"/>
            <a:ext cx="8151763" cy="14288"/>
          </a:xfrm>
          <a:prstGeom prst="roundRect">
            <a:avLst>
              <a:gd name="adj" fmla="val 59998"/>
            </a:avLst>
          </a:prstGeom>
          <a:solidFill>
            <a:srgbClr val="5B5F71">
              <a:alpha val="50000"/>
            </a:srgbClr>
          </a:solidFill>
          <a:ln/>
        </p:spPr>
      </p:sp>
      <p:sp>
        <p:nvSpPr>
          <p:cNvPr id="12" name="Text 10"/>
          <p:cNvSpPr/>
          <p:nvPr/>
        </p:nvSpPr>
        <p:spPr>
          <a:xfrm>
            <a:off x="267519" y="4585469"/>
            <a:ext cx="8608963" cy="162818"/>
          </a:xfrm>
          <a:prstGeom prst="rect">
            <a:avLst/>
          </a:prstGeom>
          <a:noFill/>
          <a:ln/>
        </p:spPr>
        <p:txBody>
          <a:bodyPr wrap="none" lIns="0" tIns="0" rIns="0" bIns="0" rtlCol="0" anchor="t"/>
          <a:lstStyle/>
          <a:p>
            <a:pPr algn="ctr" indent="0" marL="0">
              <a:lnSpc>
                <a:spcPct val="125000"/>
              </a:lnSpc>
              <a:buNone/>
            </a:pPr>
            <a:r>
              <a:rPr lang="en-US" sz="850" i="1" dirty="0">
                <a:solidFill>
                  <a:srgbClr val="5B5F71"/>
                </a:solidFill>
                <a:latin typeface="Instrument Sans Medium" pitchFamily="34" charset="0"/>
                <a:ea typeface="Instrument Sans Medium" pitchFamily="34" charset="-122"/>
                <a:cs typeface="Instrument Sans Medium" pitchFamily="34" charset="-120"/>
              </a:rPr>
              <a:t>HarvestTrust converts paper-based collection into a transparent digital relationship between farmers and their producer group.</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2026-07-26T02:33:15Z</dcterms:created>
  <dcterms:modified xsi:type="dcterms:W3CDTF">2026-07-26T02:33:15Z</dcterms:modified>
</cp:coreProperties>
</file>